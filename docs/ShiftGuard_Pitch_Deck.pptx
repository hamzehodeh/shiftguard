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94960" y="1371600"/>
            <a:ext cx="1371600" cy="1371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>
                <a:solidFill>
                  <a:srgbClr val="FFFFFF"/>
                </a:solidFill>
                <a:latin typeface="Segoe UI"/>
              </a:defRPr>
            </a:pPr>
            <a:r>
              <a:t>SG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ShiftGuard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2062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1D5DB"/>
                </a:solidFill>
                <a:latin typeface="Segoe UI"/>
              </a:defRPr>
            </a:pPr>
            <a:r>
              <a:t>AI-Powered Workforce Compliance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Segoe UI"/>
              </a:defRPr>
            </a:pPr>
            <a:r>
              <a:t>Schedule with confidence. Never pay another compliance fine.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5943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Segoe UI"/>
              </a:defRPr>
            </a:pPr>
            <a:r>
              <a:t>July 2026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1D5DB"/>
                </a:solidFill>
                <a:latin typeface="Segoe UI"/>
              </a:defRPr>
            </a:pPr>
            <a:r>
              <a:t>U.S. employers pay $2.7 BILLION in wage &amp; hour penalties every year.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11680" cy="1280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87171"/>
                </a:solidFill>
                <a:latin typeface="Segoe UI"/>
              </a:defRPr>
            </a:pPr>
            <a:r>
              <a:t>$2.7B</a:t>
            </a:r>
          </a:p>
          <a:p>
            <a:pPr algn="ctr">
              <a:defRPr sz="1100">
                <a:solidFill>
                  <a:srgbClr val="9CA3AF"/>
                </a:solidFill>
                <a:latin typeface="Segoe UI"/>
              </a:defRPr>
            </a:pPr>
            <a:r>
              <a:t>Annual penalties</a:t>
            </a:r>
            <a:br/>
            <a:r>
              <a:t>(DOL enforcement)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011680"/>
            <a:ext cx="2011680" cy="1280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B923C"/>
                </a:solidFill>
                <a:latin typeface="Segoe UI"/>
              </a:defRPr>
            </a:pPr>
            <a:r>
              <a:t>70%</a:t>
            </a:r>
          </a:p>
          <a:p>
            <a:pPr algn="ctr">
              <a:defRPr sz="1100">
                <a:solidFill>
                  <a:srgbClr val="9CA3AF"/>
                </a:solidFill>
                <a:latin typeface="Segoe UI"/>
              </a:defRPr>
            </a:pPr>
            <a:r>
              <a:t>DOL investigations</a:t>
            </a:r>
            <a:br/>
            <a:r>
              <a:t>find violations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2011680"/>
            <a:ext cx="2011680" cy="1280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EA5E9"/>
                </a:solidFill>
                <a:latin typeface="Segoe UI"/>
              </a:defRPr>
            </a:pPr>
            <a:r>
              <a:t>12+</a:t>
            </a:r>
          </a:p>
          <a:p>
            <a:pPr algn="ctr">
              <a:defRPr sz="1100">
                <a:solidFill>
                  <a:srgbClr val="9CA3AF"/>
                </a:solidFill>
                <a:latin typeface="Segoe UI"/>
              </a:defRPr>
            </a:pPr>
            <a:r>
              <a:t>New scheduling laws</a:t>
            </a:r>
            <a:br/>
            <a:r>
              <a:t>since 2022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011680"/>
            <a:ext cx="2011680" cy="1280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D1D5DB"/>
                </a:solidFill>
                <a:latin typeface="Segoe UI"/>
              </a:defRPr>
            </a:pPr>
            <a:r>
              <a:t>4-8 hrs</a:t>
            </a:r>
          </a:p>
          <a:p>
            <a:pPr algn="ctr">
              <a:defRPr sz="1100">
                <a:solidFill>
                  <a:srgbClr val="9CA3AF"/>
                </a:solidFill>
                <a:latin typeface="Segoe UI"/>
              </a:defRPr>
            </a:pPr>
            <a:r>
              <a:t>Manager time/week</a:t>
            </a:r>
            <a:br/>
            <a:r>
              <a:t>checking compliance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2011680"/>
            <a:ext cx="2011680" cy="1280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87171"/>
                </a:solidFill>
                <a:latin typeface="Segoe UI"/>
              </a:defRPr>
            </a:pPr>
            <a:r>
              <a:t>$50M+</a:t>
            </a:r>
          </a:p>
          <a:p>
            <a:pPr algn="ctr">
              <a:defRPr sz="1100">
                <a:solidFill>
                  <a:srgbClr val="9CA3AF"/>
                </a:solidFill>
                <a:latin typeface="Segoe UI"/>
              </a:defRPr>
            </a:pPr>
            <a:r>
              <a:t>Class-action</a:t>
            </a:r>
            <a:br/>
            <a:r>
              <a:t>settlements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The root cause isn't malice — it's complexity:</a:t>
            </a:r>
          </a:p>
          <a:p>
            <a:pPr>
              <a:spcAft>
                <a:spcPts val="72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720"/>
              </a:spcAft>
              <a:defRPr sz="1500" b="0">
                <a:solidFill>
                  <a:srgbClr val="D1D5DB"/>
                </a:solidFill>
                <a:latin typeface="Segoe UI"/>
              </a:defRPr>
            </a:pPr>
            <a:r>
              <a:t>  A single warehouse in Chicago must comply with FLSA + Illinois ODRISA +</a:t>
            </a:r>
          </a:p>
          <a:p>
            <a:pPr>
              <a:spcAft>
                <a:spcPts val="720"/>
              </a:spcAft>
              <a:defRPr sz="1500" b="0">
                <a:solidFill>
                  <a:srgbClr val="D1D5DB"/>
                </a:solidFill>
                <a:latin typeface="Segoe UI"/>
              </a:defRPr>
            </a:pPr>
            <a:r>
              <a:t>  Chicago Fair Workweek + union CBA + company policy + OSHA — simultaneously,</a:t>
            </a:r>
          </a:p>
          <a:p>
            <a:pPr>
              <a:spcAft>
                <a:spcPts val="720"/>
              </a:spcAft>
              <a:defRPr sz="1500" b="0">
                <a:solidFill>
                  <a:srgbClr val="D1D5DB"/>
                </a:solidFill>
                <a:latin typeface="Segoe UI"/>
              </a:defRPr>
            </a:pPr>
            <a:r>
              <a:t>  for every shift, for every worker.</a:t>
            </a:r>
          </a:p>
          <a:p>
            <a:pPr>
              <a:spcAft>
                <a:spcPts val="72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720"/>
              </a:spcAft>
              <a:defRPr sz="1500" b="0">
                <a:solidFill>
                  <a:srgbClr val="D1D5DB"/>
                </a:solidFill>
                <a:latin typeface="Segoe UI"/>
              </a:defRPr>
            </a:pPr>
            <a:r>
              <a:t>  Existing tools catch violations AFTER they happen.</a:t>
            </a:r>
          </a:p>
          <a:p>
            <a:pPr>
              <a:spcAft>
                <a:spcPts val="720"/>
              </a:spcAft>
              <a:defRPr sz="1500" b="0">
                <a:solidFill>
                  <a:srgbClr val="D1D5DB"/>
                </a:solidFill>
                <a:latin typeface="Segoe UI"/>
              </a:defRPr>
            </a:pPr>
            <a:r>
              <a:t>  By then, the penalty is already incurred.</a:t>
            </a:r>
          </a:p>
          <a:p>
            <a:pPr>
              <a:spcAft>
                <a:spcPts val="72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720"/>
              </a:spcAft>
              <a:defRPr sz="1500" b="0">
                <a:solidFill>
                  <a:srgbClr val="D1D5DB"/>
                </a:solidFill>
                <a:latin typeface="Segoe UI"/>
              </a:defRPr>
            </a:pPr>
            <a:r>
              <a:t>  Managers don't know the laws. HR updates lag. Nobody checks in real-time.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EA5E9"/>
                </a:solidFill>
                <a:latin typeface="Segoe UI"/>
              </a:defRPr>
            </a:pPr>
            <a:r>
              <a:t>Check every schedule against every law BEFORE you publish.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920240" cy="10972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Schedule</a:t>
            </a:r>
            <a:br/>
            <a:r>
              <a:t>Created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2103120"/>
            <a:ext cx="1920240" cy="10972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ShiftGuard</a:t>
            </a:r>
            <a:br/>
            <a:r>
              <a:t>Scans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103120"/>
            <a:ext cx="1920240" cy="10972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Violations</a:t>
            </a:r>
            <a:br/>
            <a:r>
              <a:t>Flagged ($)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103120"/>
            <a:ext cx="1920240" cy="1097280"/>
          </a:xfrm>
          <a:prstGeom prst="round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AI Fix</a:t>
            </a:r>
            <a:br/>
            <a:r>
              <a:t>Suggested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2103120"/>
            <a:ext cx="192024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Publish with</a:t>
            </a:r>
            <a:br/>
            <a:r>
              <a:t>Confidence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83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60 seconds. Zero configuration.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What ShiftGuard does that nobody else can:</a:t>
            </a:r>
          </a:p>
          <a:p>
            <a:pPr>
              <a:spcAft>
                <a:spcPts val="72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720"/>
              </a:spcAft>
              <a:defRPr sz="1500" b="0">
                <a:solidFill>
                  <a:srgbClr val="4ADE80"/>
                </a:solidFill>
                <a:latin typeface="Segoe UI"/>
              </a:defRPr>
            </a:pPr>
            <a:r>
              <a:t>  ✔  Shows penalty $ exposure on every violation before publish</a:t>
            </a:r>
          </a:p>
          <a:p>
            <a:pPr>
              <a:spcAft>
                <a:spcPts val="720"/>
              </a:spcAft>
              <a:defRPr sz="1500" b="0">
                <a:solidFill>
                  <a:srgbClr val="4ADE80"/>
                </a:solidFill>
                <a:latin typeface="Segoe UI"/>
              </a:defRPr>
            </a:pPr>
            <a:r>
              <a:t>  ✔  AI suggests the least-disruptive compliant fix (one click)</a:t>
            </a:r>
          </a:p>
          <a:p>
            <a:pPr>
              <a:spcAft>
                <a:spcPts val="720"/>
              </a:spcAft>
              <a:defRPr sz="1500" b="0">
                <a:solidFill>
                  <a:srgbClr val="4ADE80"/>
                </a:solidFill>
                <a:latin typeface="Segoe UI"/>
              </a:defRPr>
            </a:pPr>
            <a:r>
              <a:t>  ✔  Plain English explanation of every decision</a:t>
            </a:r>
          </a:p>
          <a:p>
            <a:pPr>
              <a:spcAft>
                <a:spcPts val="720"/>
              </a:spcAft>
              <a:defRPr sz="1500" b="0">
                <a:solidFill>
                  <a:srgbClr val="4ADE80"/>
                </a:solidFill>
                <a:latin typeface="Segoe UI"/>
              </a:defRPr>
            </a:pPr>
            <a:r>
              <a:t>  ✔  Fairness engine ensures equitable shift distribution</a:t>
            </a:r>
          </a:p>
          <a:p>
            <a:pPr>
              <a:spcAft>
                <a:spcPts val="720"/>
              </a:spcAft>
              <a:defRPr sz="1500" b="0">
                <a:solidFill>
                  <a:srgbClr val="4ADE80"/>
                </a:solidFill>
                <a:latin typeface="Segoe UI"/>
              </a:defRPr>
            </a:pPr>
            <a:r>
              <a:t>  ✔  Deploys in 60 seconds — not 6 months</a:t>
            </a:r>
          </a:p>
          <a:p>
            <a:pPr>
              <a:spcAft>
                <a:spcPts val="720"/>
              </a:spcAft>
              <a:defRPr sz="1500" b="0">
                <a:solidFill>
                  <a:srgbClr val="4ADE80"/>
                </a:solidFill>
                <a:latin typeface="Segoe UI"/>
              </a:defRPr>
            </a:pPr>
            <a:r>
              <a:t>  ✔  Updates rules within 48 hours of new legislation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Product — Live Today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Segoe UI"/>
              </a:defRPr>
            </a:pPr>
            <a:r>
              <a:t>Manager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 b="0">
                <a:solidFill>
                  <a:srgbClr val="F87171"/>
                </a:solidFill>
                <a:latin typeface="Segoe UI"/>
              </a:defRPr>
            </a:pPr>
            <a:r>
              <a:t>⚠  CRITICAL: Dr. Patel exceeded 80hr/week (ACGME-001)</a:t>
            </a:r>
          </a:p>
          <a:p>
            <a:pPr>
              <a:spcAft>
                <a:spcPts val="576"/>
              </a:spcAft>
              <a:defRPr sz="1200" b="0">
                <a:solidFill>
                  <a:srgbClr val="9CA3AF"/>
                </a:solidFill>
                <a:latin typeface="Segoe UI"/>
              </a:defRPr>
            </a:pPr>
            <a:r>
              <a:t>     Penalty: $7,500/week  |  Fix: Remove Friday night shift</a:t>
            </a:r>
          </a:p>
          <a:p>
            <a:pPr>
              <a:spcAft>
                <a:spcPts val="576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76"/>
              </a:spcAft>
              <a:defRPr sz="1200" b="0">
                <a:solidFill>
                  <a:srgbClr val="FB923C"/>
                </a:solidFill>
                <a:latin typeface="Segoe UI"/>
              </a:defRPr>
            </a:pPr>
            <a:r>
              <a:t>⚠  HIGH: RN Chen — clopening, &lt;8h rest (REST-002)</a:t>
            </a:r>
          </a:p>
          <a:p>
            <a:pPr>
              <a:spcAft>
                <a:spcPts val="576"/>
              </a:spcAft>
              <a:defRPr sz="1200" b="0">
                <a:solidFill>
                  <a:srgbClr val="9CA3AF"/>
                </a:solidFill>
                <a:latin typeface="Segoe UI"/>
              </a:defRPr>
            </a:pPr>
            <a:r>
              <a:t>     Penalty: $5,000  |  Fix: Move morning shift to 10AM</a:t>
            </a:r>
          </a:p>
          <a:p>
            <a:pPr>
              <a:spcAft>
                <a:spcPts val="576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76"/>
              </a:spcAft>
              <a:defRPr sz="1200" b="0">
                <a:solidFill>
                  <a:srgbClr val="FBBF24"/>
                </a:solidFill>
                <a:latin typeface="Segoe UI"/>
              </a:defRPr>
            </a:pPr>
            <a:r>
              <a:t>⚠  MEDIUM: Schedule posted 5 days early (NOTICE-001)</a:t>
            </a:r>
          </a:p>
          <a:p>
            <a:pPr>
              <a:spcAft>
                <a:spcPts val="576"/>
              </a:spcAft>
              <a:defRPr sz="1200" b="0">
                <a:solidFill>
                  <a:srgbClr val="9CA3AF"/>
                </a:solidFill>
                <a:latin typeface="Segoe UI"/>
              </a:defRPr>
            </a:pPr>
            <a:r>
              <a:t>     Penalty: $500/worker  |  Fix: Publish by Wednesday</a:t>
            </a:r>
          </a:p>
          <a:p>
            <a:pPr>
              <a:spcAft>
                <a:spcPts val="576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76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Confidence Score: 72%  |  Total Exposure: $18,500/week</a:t>
            </a:r>
          </a:p>
          <a:p>
            <a:pPr>
              <a:spcAft>
                <a:spcPts val="576"/>
              </a:spcAft>
              <a:defRPr sz="1200" b="0">
                <a:solidFill>
                  <a:srgbClr val="0EA5E9"/>
                </a:solidFill>
                <a:latin typeface="Segoe UI"/>
              </a:defRPr>
            </a:pPr>
            <a:r>
              <a:t>  [Resolve All]  [Export Report]  [Publish Anyway]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846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Segoe UI"/>
              </a:defRPr>
            </a:pPr>
            <a:r>
              <a:t>Worker Mobile App (PWA)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8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Good morning, Sarah</a:t>
            </a:r>
          </a:p>
          <a:p>
            <a:pPr>
              <a:spcAft>
                <a:spcPts val="528"/>
              </a:spcAft>
              <a:defRPr sz="1100" b="0">
                <a:solidFill>
                  <a:srgbClr val="6B7280"/>
                </a:solidFill>
                <a:latin typeface="Segoe UI"/>
              </a:defRPr>
            </a:pPr>
            <a:r>
              <a:t>ED Nursing | Staff RN</a:t>
            </a:r>
          </a:p>
          <a:p>
            <a:pPr>
              <a:spcAft>
                <a:spcPts val="528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28"/>
              </a:spcAft>
              <a:defRPr sz="1100" b="0">
                <a:solidFill>
                  <a:srgbClr val="FB923C"/>
                </a:solidFill>
                <a:latin typeface="Segoe UI"/>
              </a:defRPr>
            </a:pPr>
            <a:r>
              <a:t>🌙  Night shift in 24h — starts at 19:00</a:t>
            </a:r>
          </a:p>
          <a:p>
            <a:pPr>
              <a:spcAft>
                <a:spcPts val="528"/>
              </a:spcAft>
              <a:defRPr sz="1100" b="0">
                <a:solidFill>
                  <a:srgbClr val="9CA3AF"/>
                </a:solidFill>
                <a:latin typeface="Segoe UI"/>
              </a:defRPr>
            </a:pPr>
            <a:r>
              <a:t>    Tip: Nap 90min between 2-4 PM for peak alertness</a:t>
            </a:r>
          </a:p>
          <a:p>
            <a:pPr>
              <a:spcAft>
                <a:spcPts val="528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28"/>
              </a:spcAft>
              <a:defRPr sz="1100" b="0">
                <a:solidFill>
                  <a:srgbClr val="0EA5E9"/>
                </a:solidFill>
                <a:latin typeface="Segoe UI"/>
              </a:defRPr>
            </a:pPr>
            <a:r>
              <a:t>⏱  Only 4h before overtime (36/40h this week)</a:t>
            </a:r>
          </a:p>
          <a:p>
            <a:pPr>
              <a:spcAft>
                <a:spcPts val="528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28"/>
              </a:spcAft>
              <a:defRPr sz="1100" b="0">
                <a:solidFill>
                  <a:srgbClr val="4ADE80"/>
                </a:solidFill>
                <a:latin typeface="Segoe UI"/>
              </a:defRPr>
            </a:pPr>
            <a:r>
              <a:t>💵  VET Available: Thu Jul 10, premium pay</a:t>
            </a:r>
          </a:p>
          <a:p>
            <a:pPr>
              <a:spcAft>
                <a:spcPts val="528"/>
              </a:spcAft>
              <a:defRPr sz="1100" b="0">
                <a:solidFill>
                  <a:srgbClr val="9CA3AF"/>
                </a:solidFill>
                <a:latin typeface="Segoe UI"/>
              </a:defRPr>
            </a:pPr>
            <a:r>
              <a:t>    [Accept]  [Decline]</a:t>
            </a:r>
          </a:p>
          <a:p>
            <a:pPr>
              <a:spcAft>
                <a:spcPts val="528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28"/>
              </a:spcAft>
              <a:defRPr sz="1100" b="0">
                <a:solidFill>
                  <a:srgbClr val="4ADE80"/>
                </a:solidFill>
                <a:latin typeface="Segoe UI"/>
              </a:defRPr>
            </a:pPr>
            <a:r>
              <a:t>✅  PTO Jul 15-17 auto-approved. Enjoy!</a:t>
            </a:r>
          </a:p>
          <a:p>
            <a:pPr>
              <a:spcAft>
                <a:spcPts val="528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28"/>
              </a:spcAft>
              <a:defRPr sz="1100" b="0">
                <a:solidFill>
                  <a:srgbClr val="6B7280"/>
                </a:solidFill>
                <a:latin typeface="Segoe UI"/>
              </a:defRPr>
            </a:pPr>
            <a:r>
              <a:t>  📅 Schedule  |  📝 Request  |  💰 Balance  |  💬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Why ShiftGuard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CA3AF"/>
                </a:solidFill>
                <a:latin typeface="Segoe UI"/>
              </a:defRPr>
            </a:pPr>
            <a:r>
              <a:t>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A5E9"/>
                </a:solidFill>
                <a:latin typeface="Segoe UI"/>
              </a:defRPr>
            </a:pPr>
            <a:r>
              <a:t>ShiftGuard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UKG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Legion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Deputy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Pre-publish compliance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Segoe UI"/>
              </a:defRPr>
            </a:pPr>
            <a:r>
              <a:t>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Penalty $ on every violation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Segoe UI"/>
              </a:defRPr>
            </a:pPr>
            <a: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AI fix suggestions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Segoe UI"/>
              </a:defRPr>
            </a:pPr>
            <a: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Partial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Multi-jurisdiction auto-detect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Segoe UI"/>
              </a:defRPr>
            </a:pPr>
            <a:r>
              <a:t>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Manual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Union CBA enforcement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Segoe UI"/>
              </a:defRPr>
            </a:pPr>
            <a:r>
              <a:t>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Partial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Fairness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Segoe UI"/>
              </a:defRPr>
            </a:pPr>
            <a:r>
              <a:t>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Cost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Plain English decisions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Segoe UI"/>
              </a:defRPr>
            </a:pPr>
            <a:r>
              <a:t>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Setup time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Segoe UI"/>
              </a:defRPr>
            </a:pPr>
            <a:r>
              <a:t>60 sec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6-12 mo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3+ mo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2-4 wk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Price (PEPM)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192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Segoe UI"/>
              </a:defRPr>
            </a:pPr>
            <a:r>
              <a:t>$15-25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72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$50-100+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$25-50+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$6.50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EA5E9"/>
                </a:solidFill>
                <a:latin typeface="Segoe UI"/>
              </a:defRPr>
            </a:pPr>
            <a:r>
              <a:t>TAM: $2.7B  |  SAM: $1.08B  |  SOM (Yr1): $570K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48640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Healthcare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5.3M workers | Hospitals, clinics, health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148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$950M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548640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Warehousing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1.8M workers | Fulfillment, logistics, 3PL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063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$540M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48640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4.2M workers | Multi-location chains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977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$630M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548640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00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Hospitality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3.1M workers | Hotels, restaurants, venues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892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$465M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69280"/>
            <a:ext cx="548640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Manufacturing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035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1.2M workers | Plants, factories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806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$180M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EA5E9"/>
                </a:solidFill>
                <a:latin typeface="Segoe UI"/>
              </a:defRPr>
            </a:pPr>
            <a:r>
              <a:t>Why Now?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8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12+ new predictive scheduling laws (2022-2026)</a:t>
            </a:r>
          </a:p>
          <a:p>
            <a:pPr>
              <a:spcAft>
                <a:spcPts val="1008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DOL hired 600+ new investigators (2024-25)</a:t>
            </a:r>
          </a:p>
          <a:p>
            <a:pPr>
              <a:spcAft>
                <a:spcPts val="1008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AI maturity: LLMs can reason about law</a:t>
            </a:r>
          </a:p>
          <a:p>
            <a:pPr>
              <a:spcAft>
                <a:spcPts val="1008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Gen Z demands schedule fairness/transparency</a:t>
            </a:r>
          </a:p>
          <a:p>
            <a:pPr>
              <a:spcAft>
                <a:spcPts val="1008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Labor scarcity: retention &gt; recruitment</a:t>
            </a:r>
          </a:p>
          <a:p>
            <a:pPr>
              <a:spcAft>
                <a:spcPts val="1008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$5-50M class actions now routine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EA5E9"/>
                </a:solidFill>
                <a:latin typeface="Segoe UI"/>
              </a:defRPr>
            </a:pPr>
            <a:r>
              <a:t>SaaS: $15-25 Per Employee Per Month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0EA5E9"/>
                </a:solidFill>
                <a:latin typeface="Segoe UI"/>
              </a:defRPr>
            </a:pPr>
            <a:r>
              <a:t>Core</a:t>
            </a:r>
            <a:br/>
            <a:r>
              <a:t>$15 PEPM</a:t>
            </a:r>
          </a:p>
          <a:p>
            <a:pPr algn="ctr">
              <a:defRPr sz="1200">
                <a:solidFill>
                  <a:srgbClr val="D1D5DB"/>
                </a:solidFill>
                <a:latin typeface="Segoe UI"/>
              </a:defRPr>
            </a:pPr>
            <a:r>
              <a:t>Pre-publish scan</a:t>
            </a:r>
          </a:p>
          <a:p>
            <a:pPr algn="ctr">
              <a:defRPr sz="1200">
                <a:solidFill>
                  <a:srgbClr val="D1D5DB"/>
                </a:solidFill>
                <a:latin typeface="Segoe UI"/>
              </a:defRPr>
            </a:pPr>
            <a:r>
              <a:t>Violation alerts</a:t>
            </a:r>
          </a:p>
          <a:p>
            <a:pPr algn="ctr">
              <a:defRPr sz="1200">
                <a:solidFill>
                  <a:srgbClr val="D1D5DB"/>
                </a:solidFill>
                <a:latin typeface="Segoe UI"/>
              </a:defRPr>
            </a:pPr>
            <a:r>
              <a:t>Fix suggestions</a:t>
            </a:r>
          </a:p>
          <a:p>
            <a:pPr algn="ctr">
              <a:defRPr sz="1200">
                <a:solidFill>
                  <a:srgbClr val="D1D5DB"/>
                </a:solidFill>
                <a:latin typeface="Segoe UI"/>
              </a:defRPr>
            </a:pPr>
            <a:r>
              <a:t>Audit trail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828800"/>
            <a:ext cx="3474720" cy="20116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0EA5E9"/>
                </a:solidFill>
                <a:latin typeface="Segoe UI"/>
              </a:defRPr>
            </a:pPr>
            <a:r>
              <a:t>Growth</a:t>
            </a:r>
            <a:br/>
            <a:r>
              <a:t>$20 PEPM</a:t>
            </a:r>
          </a:p>
          <a:p>
            <a:pPr algn="ctr">
              <a:defRPr sz="1200">
                <a:solidFill>
                  <a:srgbClr val="D1D5DB"/>
                </a:solidFill>
                <a:latin typeface="Segoe UI"/>
              </a:defRPr>
            </a:pPr>
            <a:r>
              <a:t>+ Fairness engine</a:t>
            </a:r>
          </a:p>
          <a:p>
            <a:pPr algn="ctr">
              <a:defRPr sz="1200">
                <a:solidFill>
                  <a:srgbClr val="D1D5DB"/>
                </a:solidFill>
                <a:latin typeface="Segoe UI"/>
              </a:defRPr>
            </a:pPr>
            <a:r>
              <a:t>+ Worker portal</a:t>
            </a:r>
          </a:p>
          <a:p>
            <a:pPr algn="ctr">
              <a:defRPr sz="1200">
                <a:solidFill>
                  <a:srgbClr val="D1D5DB"/>
                </a:solidFill>
                <a:latin typeface="Segoe UI"/>
              </a:defRPr>
            </a:pPr>
            <a:r>
              <a:t>+ Auto-approval</a:t>
            </a:r>
          </a:p>
          <a:p>
            <a:pPr algn="ctr">
              <a:defRPr sz="1200">
                <a:solidFill>
                  <a:srgbClr val="D1D5DB"/>
                </a:solidFill>
                <a:latin typeface="Segoe UI"/>
              </a:defRPr>
            </a:pPr>
            <a:r>
              <a:t>+ Coverage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828800"/>
            <a:ext cx="3474720" cy="2011680"/>
          </a:xfrm>
          <a:prstGeom prst="round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0EA5E9"/>
                </a:solidFill>
                <a:latin typeface="Segoe UI"/>
              </a:defRPr>
            </a:pPr>
            <a:r>
              <a:t>Enterprise</a:t>
            </a:r>
            <a:br/>
            <a:r>
              <a:t>$25 PEPM</a:t>
            </a:r>
          </a:p>
          <a:p>
            <a:pPr algn="ctr">
              <a:defRPr sz="1200">
                <a:solidFill>
                  <a:srgbClr val="D1D5DB"/>
                </a:solidFill>
                <a:latin typeface="Segoe UI"/>
              </a:defRPr>
            </a:pPr>
            <a:r>
              <a:t>+ AI assistant</a:t>
            </a:r>
          </a:p>
          <a:p>
            <a:pPr algn="ctr">
              <a:defRPr sz="1200">
                <a:solidFill>
                  <a:srgbClr val="D1D5DB"/>
                </a:solidFill>
                <a:latin typeface="Segoe UI"/>
              </a:defRPr>
            </a:pPr>
            <a:r>
              <a:t>+ Predictive callouts</a:t>
            </a:r>
          </a:p>
          <a:p>
            <a:pPr algn="ctr">
              <a:defRPr sz="1200">
                <a:solidFill>
                  <a:srgbClr val="D1D5DB"/>
                </a:solidFill>
                <a:latin typeface="Segoe UI"/>
              </a:defRPr>
            </a:pPr>
            <a:r>
              <a:t>+ Demand sensing</a:t>
            </a:r>
          </a:p>
          <a:p>
            <a:pPr algn="ctr">
              <a:defRPr sz="1200">
                <a:solidFill>
                  <a:srgbClr val="D1D5DB"/>
                </a:solidFill>
                <a:latin typeface="Segoe UI"/>
              </a:defRPr>
            </a:pPr>
            <a:r>
              <a:t>+ Multi-site + 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Revenue Projections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3474720" cy="1463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Segoe UI"/>
              </a:defRPr>
            </a:pPr>
            <a:r>
              <a:t>Year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DE80"/>
                </a:solidFill>
                <a:latin typeface="Segoe UI"/>
              </a:defRPr>
            </a:pPr>
            <a:r>
              <a:t>$570K ARR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23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15 customers | 85% margin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4663440"/>
            <a:ext cx="3474720" cy="1463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4754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Segoe UI"/>
              </a:defRPr>
            </a:pPr>
            <a:r>
              <a:t>Year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5074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DE80"/>
                </a:solidFill>
                <a:latin typeface="Segoe UI"/>
              </a:defRPr>
            </a:pPr>
            <a:r>
              <a:t>$2.5M ARR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5623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50 customers | 87% margin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663440"/>
            <a:ext cx="3474720" cy="1463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754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Segoe UI"/>
              </a:defRPr>
            </a:pPr>
            <a:r>
              <a:t>Year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074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DE80"/>
                </a:solidFill>
                <a:latin typeface="Segoe UI"/>
              </a:defRPr>
            </a:pPr>
            <a:r>
              <a:t>$8.3M ARR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623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150 customers | 90% margin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EA5E9"/>
                </a:solidFill>
                <a:latin typeface="Segoe UI"/>
              </a:defRPr>
            </a:pPr>
            <a:r>
              <a:t>Product-Led Growth: Free tool → Demo → Trial → Close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515600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94A2"/>
                </a:solidFill>
                <a:latin typeface="Segoe UI"/>
              </a:defRPr>
            </a:pPr>
            <a:r>
              <a:t>Free Calculator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9659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No signup. Instant risk grade.</a:t>
            </a:r>
            <a:br/>
            <a:r>
              <a:t>Shareable. Every HR leader</a:t>
            </a:r>
            <a:br/>
            <a:r>
              <a:t>who sees $47K risk = warm lead.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Segoe UI"/>
              </a:defRPr>
            </a:pPr>
            <a:r>
              <a:t>5,000 visitors/mo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9144000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Segoe UI"/>
              </a:defRPr>
            </a:pPr>
            <a:r>
              <a:t>Interactive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1546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Pick industry, see real violations</a:t>
            </a:r>
            <a:br/>
            <a:r>
              <a:t>with penalty $. One-click CTA.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Segoe UI"/>
              </a:defRPr>
            </a:pPr>
            <a:r>
              <a:t>500 demos/mo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7772400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14-Day Trial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3434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Upload YOUR schedule.</a:t>
            </a:r>
            <a:br/>
            <a:r>
              <a:t>See YOUR violations.</a:t>
            </a:r>
            <a:br/>
            <a:r>
              <a:t>Prove ROI before buying.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Segoe UI"/>
              </a:defRPr>
            </a:pPr>
            <a:r>
              <a:t>50 trials/mo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94960"/>
            <a:ext cx="6400800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Close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532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$15-25 PEPM</a:t>
            </a:r>
            <a:br/>
            <a:r>
              <a:t>Avg deal: $5K/mo</a:t>
            </a:r>
            <a:br/>
            <a:r>
              <a:t>Payback: &lt;2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669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Segoe UI"/>
              </a:defRPr>
            </a:pPr>
            <a:r>
              <a:t>5 closes/mo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Phase 1: Healthcare (highest pain)  →  Phase 2: Warehouse  →  Phase 3: Multi-location retail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Segoe UI"/>
              </a:defRPr>
            </a:pPr>
            <a:r>
              <a:t>Five layers of defensibility — each harder to replicate than the last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74320" cy="8229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Compliance-as-Code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Every law = versioned executable rule. 50 states + local. Updated in 48h.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Segoe UI"/>
              </a:defRPr>
            </a:pPr>
            <a:r>
              <a:t>12-18 months to replicate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274320" cy="8229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Data Flywheel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08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Every customer improves predictions for all. Callouts, demand, violations.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Segoe UI"/>
              </a:defRPr>
            </a:pPr>
            <a:r>
              <a:t>Requires our scale first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274320" cy="8229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Fairness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11479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Year-over-year allocation history per worker. Switching = losing years of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93191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Segoe UI"/>
              </a:defRPr>
            </a:pPr>
            <a:r>
              <a:t>Cannot replicate without history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274320" cy="8229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AI Reasoning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LLM fine-tuned on scheduling domain. Explains, generates, predicts.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937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Segoe UI"/>
              </a:defRPr>
            </a:pPr>
            <a:r>
              <a:t>Commodity AI without domain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274320" cy="8229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Multi-Jurisdiction Speed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6126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New law → rule deployed in 48h. Competitors: 3-6 months.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943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Segoe UI"/>
              </a:defRPr>
            </a:pPr>
            <a:r>
              <a:t>Architecture built for speed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Traction — Live Product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011680" cy="1280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EA5E9"/>
                </a:solidFill>
                <a:latin typeface="Segoe UI"/>
              </a:defRPr>
            </a:pPr>
            <a:r>
              <a:t>24+</a:t>
            </a:r>
          </a:p>
          <a:p>
            <a:pPr algn="ctr">
              <a:defRPr sz="1100">
                <a:solidFill>
                  <a:srgbClr val="9CA3AF"/>
                </a:solidFill>
                <a:latin typeface="Segoe UI"/>
              </a:defRPr>
            </a:pPr>
            <a:r>
              <a:t>Modules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1371600"/>
            <a:ext cx="2011680" cy="1280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EA5E9"/>
                </a:solidFill>
                <a:latin typeface="Segoe UI"/>
              </a:defRPr>
            </a:pPr>
            <a:r>
              <a:t>31</a:t>
            </a:r>
          </a:p>
          <a:p>
            <a:pPr algn="ctr">
              <a:defRPr sz="1100">
                <a:solidFill>
                  <a:srgbClr val="9CA3AF"/>
                </a:solidFill>
                <a:latin typeface="Segoe UI"/>
              </a:defRPr>
            </a:pPr>
            <a:r>
              <a:t>Compliance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1371600"/>
            <a:ext cx="2011680" cy="1280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EA5E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1100">
                <a:solidFill>
                  <a:srgbClr val="9CA3AF"/>
                </a:solidFill>
                <a:latin typeface="Segoe UI"/>
              </a:defRPr>
            </a:pPr>
            <a:r>
              <a:t>Industries covered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2011680" cy="1280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EA5E9"/>
                </a:solidFill>
                <a:latin typeface="Segoe UI"/>
              </a:defRPr>
            </a:pPr>
            <a:r>
              <a:t>50</a:t>
            </a:r>
          </a:p>
          <a:p>
            <a:pPr algn="ctr">
              <a:defRPr sz="1100">
                <a:solidFill>
                  <a:srgbClr val="9CA3AF"/>
                </a:solidFill>
                <a:latin typeface="Segoe UI"/>
              </a:defRPr>
            </a:pPr>
            <a:r>
              <a:t>US states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1371600"/>
            <a:ext cx="2011680" cy="1280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EA5E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1100">
                <a:solidFill>
                  <a:srgbClr val="9CA3AF"/>
                </a:solidFill>
                <a:latin typeface="Segoe UI"/>
              </a:defRPr>
            </a:pPr>
            <a:r>
              <a:t>Live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400" b="1">
                <a:solidFill>
                  <a:srgbClr val="0EA5E9"/>
                </a:solidFill>
                <a:latin typeface="Segoe UI"/>
              </a:defRPr>
            </a:pPr>
            <a:r>
              <a:t>What's Live:</a:t>
            </a:r>
          </a:p>
          <a:p>
            <a:pPr>
              <a:spcAft>
                <a:spcPts val="672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72"/>
              </a:spcAft>
              <a:defRPr sz="1400" b="0">
                <a:solidFill>
                  <a:srgbClr val="4ADE80"/>
                </a:solidFill>
                <a:latin typeface="Segoe UI"/>
              </a:defRPr>
            </a:pPr>
            <a:r>
              <a:t>  ✔  Full compliance engine (31 rules, 7 violation types, penalty $ per state)</a:t>
            </a:r>
          </a:p>
          <a:p>
            <a:pPr>
              <a:spcAft>
                <a:spcPts val="672"/>
              </a:spcAft>
              <a:defRPr sz="1400" b="0">
                <a:solidFill>
                  <a:srgbClr val="4ADE80"/>
                </a:solidFill>
                <a:latin typeface="Segoe UI"/>
              </a:defRPr>
            </a:pPr>
            <a:r>
              <a:t>  ✔  Healthcare app (ACGME, residency scheduler, jeopardy, nursing ratios)</a:t>
            </a:r>
          </a:p>
          <a:p>
            <a:pPr>
              <a:spcAft>
                <a:spcPts val="672"/>
              </a:spcAft>
              <a:defRPr sz="1400" b="0">
                <a:solidFill>
                  <a:srgbClr val="4ADE80"/>
                </a:solidFill>
                <a:latin typeface="Segoe UI"/>
              </a:defRPr>
            </a:pPr>
            <a:r>
              <a:t>  ✔  AI assistant "Otto" (Claude-powered, answers in plain English)</a:t>
            </a:r>
          </a:p>
          <a:p>
            <a:pPr>
              <a:spcAft>
                <a:spcPts val="672"/>
              </a:spcAft>
              <a:defRPr sz="1400" b="0">
                <a:solidFill>
                  <a:srgbClr val="4ADE80"/>
                </a:solidFill>
                <a:latin typeface="Segoe UI"/>
              </a:defRPr>
            </a:pPr>
            <a:r>
              <a:t>  ✔  Worker mobile PWA (installable, calendar, requests, balances)</a:t>
            </a:r>
          </a:p>
          <a:p>
            <a:pPr>
              <a:spcAft>
                <a:spcPts val="672"/>
              </a:spcAft>
              <a:defRPr sz="1400" b="0">
                <a:solidFill>
                  <a:srgbClr val="4ADE80"/>
                </a:solidFill>
                <a:latin typeface="Segoe UI"/>
              </a:defRPr>
            </a:pPr>
            <a:r>
              <a:t>  ✔  Free compliance calculator (viral growth tool)</a:t>
            </a:r>
          </a:p>
          <a:p>
            <a:pPr>
              <a:spcAft>
                <a:spcPts val="672"/>
              </a:spcAft>
              <a:defRPr sz="1400" b="0">
                <a:solidFill>
                  <a:srgbClr val="4ADE80"/>
                </a:solidFill>
                <a:latin typeface="Segoe UI"/>
              </a:defRPr>
            </a:pPr>
            <a:r>
              <a:t>  ✔  Manager dashboard (violations, ROI, fairness scores)</a:t>
            </a:r>
          </a:p>
          <a:p>
            <a:pPr>
              <a:spcAft>
                <a:spcPts val="672"/>
              </a:spcAft>
              <a:defRPr sz="1400" b="0">
                <a:solidFill>
                  <a:srgbClr val="4ADE80"/>
                </a:solidFill>
                <a:latin typeface="Segoe UI"/>
              </a:defRPr>
            </a:pPr>
            <a:r>
              <a:t>  ✔  Data connectors (UKG/Kronos API, Google Sheets, database)</a:t>
            </a:r>
          </a:p>
          <a:p>
            <a:pPr>
              <a:spcAft>
                <a:spcPts val="672"/>
              </a:spcAft>
              <a:defRPr sz="1400" b="0">
                <a:solidFill>
                  <a:srgbClr val="4ADE80"/>
                </a:solidFill>
                <a:latin typeface="Segoe UI"/>
              </a:defRPr>
            </a:pPr>
            <a:r>
              <a:t>  ✔  Deployed: Streamlit Cloud + Vercel +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9260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8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Live URLs:</a:t>
            </a:r>
          </a:p>
          <a:p>
            <a:pPr>
              <a:spcAft>
                <a:spcPts val="528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28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Healthcare Demo:  shiftguard-giznml7xnt59j5aguqjerc.streamlit.app</a:t>
            </a:r>
          </a:p>
          <a:p>
            <a:pPr>
              <a:spcAft>
                <a:spcPts val="528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Worker App:  frontend-lyart-three-52.vercel.app/worker</a:t>
            </a:r>
          </a:p>
          <a:p>
            <a:pPr>
              <a:spcAft>
                <a:spcPts val="528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Calculator:  frontend-lyart-three-52.vercel.app/calculator</a:t>
            </a:r>
          </a:p>
          <a:p>
            <a:pPr>
              <a:spcAft>
                <a:spcPts val="528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Demo:  frontend-lyart-three-52.vercel.app/demo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Team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3200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Hamzeh Odeh — Founder &amp; 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5 years Amazon Operations Finance — managed compliance and labor cost</a:t>
            </a:r>
          </a:p>
          <a:p>
            <a:pPr>
              <a:spcAft>
                <a:spcPts val="672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optimization across millions of labor hours at the world's largest employer.</a:t>
            </a:r>
          </a:p>
          <a:p>
            <a:pPr>
              <a:spcAft>
                <a:spcPts val="672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72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Why this founder wins:</a:t>
            </a:r>
          </a:p>
          <a:p>
            <a:pPr>
              <a:spcAft>
                <a:spcPts val="672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72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  •  Lived the problem at Amazon scale (1.5M hourly workers)</a:t>
            </a:r>
          </a:p>
          <a:p>
            <a:pPr>
              <a:spcAft>
                <a:spcPts val="672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  •  Understands both ops pain (manager) and financial impact (finance)</a:t>
            </a:r>
          </a:p>
          <a:p>
            <a:pPr>
              <a:spcAft>
                <a:spcPts val="672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  •  Technical enough to build, business enough to sell</a:t>
            </a:r>
          </a:p>
          <a:p>
            <a:pPr>
              <a:spcAft>
                <a:spcPts val="672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  •  Network: ops leaders at companies most likely to buy</a:t>
            </a:r>
          </a:p>
          <a:p>
            <a:pPr>
              <a:spcAft>
                <a:spcPts val="672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  •  Built the entire platform solo in 6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Segoe UI"/>
              </a:defRPr>
            </a:pPr>
            <a:r>
              <a:t>First Hires (Post-Funding):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  1. Senior Full-Stack Engineer (Next.js + Python)</a:t>
            </a:r>
          </a:p>
          <a:p>
            <a:pPr>
              <a:spcAft>
                <a:spcPts val="672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  2. Healthcare Domain Expert / Sales (hospital relationships)</a:t>
            </a:r>
          </a:p>
          <a:p>
            <a:pPr>
              <a:spcAft>
                <a:spcPts val="672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  3. Compliance Analyst (law library expansion + updates)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EA5E9"/>
                </a:solidFill>
                <a:latin typeface="Segoe UI"/>
              </a:defRPr>
            </a:pPr>
            <a:r>
              <a:t>Raising $1.5M Seed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Segoe UI"/>
              </a:defRPr>
            </a:pPr>
            <a:r>
              <a:t>Engineering (2 senior hires)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148840"/>
            <a:ext cx="457200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45%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Segoe UI"/>
              </a:defRPr>
            </a:pPr>
            <a:r>
              <a:t>Sales &amp; GTM (1 AE + marketing)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971799"/>
            <a:ext cx="301752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92607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Segoe UI"/>
              </a:defRPr>
            </a:pPr>
            <a:r>
              <a:t>Legal (rule library expansion)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3794759"/>
            <a:ext cx="155448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37490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Segoe UI"/>
              </a:defRPr>
            </a:pPr>
            <a:r>
              <a:t>Infrastructure &amp; 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617720"/>
            <a:ext cx="100584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572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Segoe UI"/>
              </a:defRPr>
            </a:pPr>
            <a:r>
              <a:t>18-Month Milestones to Series A: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400" b="0">
                <a:solidFill>
                  <a:srgbClr val="4ADE80"/>
                </a:solidFill>
                <a:latin typeface="Segoe UI"/>
              </a:defRPr>
            </a:pPr>
            <a:r>
              <a:t>  ✔  15 paying customers ($570K ARR)</a:t>
            </a:r>
          </a:p>
          <a:p>
            <a:pPr>
              <a:spcAft>
                <a:spcPts val="672"/>
              </a:spcAft>
              <a:defRPr sz="1400" b="0">
                <a:solidFill>
                  <a:srgbClr val="4ADE80"/>
                </a:solidFill>
                <a:latin typeface="Segoe UI"/>
              </a:defRPr>
            </a:pPr>
            <a:r>
              <a:t>  ✔  3 case studies with measurable ROI</a:t>
            </a:r>
          </a:p>
          <a:p>
            <a:pPr>
              <a:spcAft>
                <a:spcPts val="672"/>
              </a:spcAft>
              <a:defRPr sz="1400" b="0">
                <a:solidFill>
                  <a:srgbClr val="4ADE80"/>
                </a:solidFill>
                <a:latin typeface="Segoe UI"/>
              </a:defRPr>
            </a:pPr>
            <a:r>
              <a:t>  ✔  Healthcare vertical dominance (5+ hospitals)</a:t>
            </a:r>
          </a:p>
          <a:p>
            <a:pPr>
              <a:spcAft>
                <a:spcPts val="672"/>
              </a:spcAft>
              <a:defRPr sz="1400" b="0">
                <a:solidFill>
                  <a:srgbClr val="4ADE80"/>
                </a:solidFill>
                <a:latin typeface="Segoe UI"/>
              </a:defRPr>
            </a:pPr>
            <a:r>
              <a:t>  ✔  95% gross retention rate</a:t>
            </a:r>
          </a:p>
          <a:p>
            <a:pPr>
              <a:spcAft>
                <a:spcPts val="672"/>
              </a:spcAft>
              <a:defRPr sz="1400" b="0">
                <a:solidFill>
                  <a:srgbClr val="4ADE80"/>
                </a:solidFill>
                <a:latin typeface="Segoe UI"/>
              </a:defRPr>
            </a:pPr>
            <a:r>
              <a:t>  ✔  Self-serve signup live (PLG engine running)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94960" y="1371600"/>
            <a:ext cx="1371600" cy="1371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>
                <a:solidFill>
                  <a:srgbClr val="FFFFFF"/>
                </a:solidFill>
                <a:latin typeface="Segoe UI"/>
              </a:defRPr>
            </a:pPr>
            <a:r>
              <a:t>SG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ShiftGuard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1D5DB"/>
                </a:solidFill>
                <a:latin typeface="Segoe UI"/>
              </a:defRPr>
            </a:pPr>
            <a:r>
              <a:t>Schedule with confidence.</a:t>
            </a:r>
            <a:br/>
            <a:r>
              <a:t>Never pay another compliance fine.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754880"/>
            <a:ext cx="7589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768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Every schedule published without ShiftGuard is a gamble.</a:t>
            </a:r>
          </a:p>
          <a:p>
            <a:pPr>
              <a:spcAft>
                <a:spcPts val="768"/>
              </a:spcAft>
              <a:defRPr sz="1600" b="0">
                <a:solidFill>
                  <a:srgbClr val="0EA5E9"/>
                </a:solidFill>
                <a:latin typeface="Segoe UI"/>
              </a:defRPr>
            </a:pPr>
            <a:r>
              <a:t>We turn compliance from a liability into a competitive advantage.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03504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Segoe UI"/>
              </a:defRPr>
            </a:pPr>
            <a:r>
              <a:t>hello@shiftguard.ai  |  frontend-lyart-three-52.vercel.app/demo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