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94960" y="1097280"/>
            <a:ext cx="1371600" cy="13716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>
                <a:solidFill>
                  <a:srgbClr val="FFFFFF"/>
                </a:solidFill>
                <a:latin typeface="Segoe UI"/>
              </a:defRPr>
            </a:pPr>
            <a:r>
              <a:t>SG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ShiftGuard for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1D5DB"/>
                </a:solidFill>
                <a:latin typeface="Segoe UI"/>
              </a:defRPr>
            </a:pPr>
            <a:r>
              <a:t>AI-Powered Clinical Scheduling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66344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  <a:latin typeface="Segoe UI"/>
              </a:defRPr>
            </a:pPr>
            <a:r>
              <a:t>Stop scheduling residents into ACGME violations.</a:t>
            </a:r>
            <a:br/>
            <a:r>
              <a:t>Stop losing nurses to unfair schedules.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5943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Segoe UI"/>
              </a:defRPr>
            </a:pPr>
            <a:r>
              <a:t>July 2026 | For Hospital Leadership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The Problem: Clinical Scheduling Is a Compliance Minefield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011680" cy="12801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87171"/>
                </a:solidFill>
                <a:latin typeface="Segoe UI"/>
              </a:defRPr>
            </a:pPr>
            <a:r>
              <a:t>6 months</a:t>
            </a:r>
          </a:p>
          <a:p>
            <a:pPr algn="ctr">
              <a:defRPr sz="1100">
                <a:solidFill>
                  <a:srgbClr val="9CA3AF"/>
                </a:solidFill>
                <a:latin typeface="Segoe UI"/>
              </a:defRPr>
            </a:pPr>
            <a:r>
              <a:t>Avg ACGME</a:t>
            </a:r>
            <a:br/>
            <a:r>
              <a:t>probation length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371600"/>
            <a:ext cx="2011680" cy="12801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B923C"/>
                </a:solidFill>
                <a:latin typeface="Segoe UI"/>
              </a:defRPr>
            </a:pPr>
            <a:r>
              <a:t>$7,500</a:t>
            </a:r>
          </a:p>
          <a:p>
            <a:pPr algn="ctr">
              <a:defRPr sz="1100">
                <a:solidFill>
                  <a:srgbClr val="9CA3AF"/>
                </a:solidFill>
                <a:latin typeface="Segoe UI"/>
              </a:defRPr>
            </a:pPr>
            <a:r>
              <a:t>Per ACGME</a:t>
            </a:r>
            <a:br/>
            <a:r>
              <a:t>violation/week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371600"/>
            <a:ext cx="2011680" cy="12801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87171"/>
                </a:solidFill>
                <a:latin typeface="Segoe UI"/>
              </a:defRPr>
            </a:pPr>
            <a:r>
              <a:t>43%</a:t>
            </a:r>
          </a:p>
          <a:p>
            <a:pPr algn="ctr">
              <a:defRPr sz="1100">
                <a:solidFill>
                  <a:srgbClr val="9CA3AF"/>
                </a:solidFill>
                <a:latin typeface="Segoe UI"/>
              </a:defRPr>
            </a:pPr>
            <a:r>
              <a:t>Nurse turnover</a:t>
            </a:r>
            <a:br/>
            <a:r>
              <a:t>from unfair schedules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371600"/>
            <a:ext cx="2011680" cy="12801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B923C"/>
                </a:solidFill>
                <a:latin typeface="Segoe UI"/>
              </a:defRPr>
            </a:pPr>
            <a:r>
              <a:t>$56K</a:t>
            </a:r>
          </a:p>
          <a:p>
            <a:pPr algn="ctr">
              <a:defRPr sz="1100">
                <a:solidFill>
                  <a:srgbClr val="9CA3AF"/>
                </a:solidFill>
                <a:latin typeface="Segoe UI"/>
              </a:defRPr>
            </a:pPr>
            <a:r>
              <a:t>Cost to replace</a:t>
            </a:r>
            <a:br/>
            <a:r>
              <a:t>one 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371600"/>
            <a:ext cx="2011680" cy="12801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D1D5DB"/>
                </a:solidFill>
                <a:latin typeface="Segoe UI"/>
              </a:defRPr>
            </a:pPr>
            <a:r>
              <a:t>4-8 hrs</a:t>
            </a:r>
          </a:p>
          <a:p>
            <a:pPr algn="ctr">
              <a:defRPr sz="1100">
                <a:solidFill>
                  <a:srgbClr val="9CA3AF"/>
                </a:solidFill>
                <a:latin typeface="Segoe UI"/>
              </a:defRPr>
            </a:pPr>
            <a:r>
              <a:t>Chief Resident time/wk</a:t>
            </a:r>
            <a:br/>
            <a:r>
              <a:t>on schedule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24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What keeps hospital leaders up at night:</a:t>
            </a:r>
          </a:p>
          <a:p>
            <a:pPr>
              <a:spcAft>
                <a:spcPts val="624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24"/>
              </a:spcAft>
              <a:defRPr sz="1300" b="0">
                <a:solidFill>
                  <a:srgbClr val="F87171"/>
                </a:solidFill>
                <a:latin typeface="Segoe UI"/>
              </a:defRPr>
            </a:pPr>
            <a:r>
              <a:t>  Program Directors: "Did any resident exceed 80 hours this week?"</a:t>
            </a:r>
          </a:p>
          <a:p>
            <a:pPr>
              <a:spcAft>
                <a:spcPts val="624"/>
              </a:spcAft>
              <a:defRPr sz="1300" b="0">
                <a:solidFill>
                  <a:srgbClr val="9CA3AF"/>
                </a:solidFill>
                <a:latin typeface="Segoe UI"/>
              </a:defRPr>
            </a:pPr>
            <a:r>
              <a:t>  — ACGME violations can shut down your residency program</a:t>
            </a:r>
          </a:p>
          <a:p>
            <a:pPr>
              <a:spcAft>
                <a:spcPts val="624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24"/>
              </a:spcAft>
              <a:defRPr sz="1300" b="0">
                <a:solidFill>
                  <a:srgbClr val="F87171"/>
                </a:solidFill>
                <a:latin typeface="Segoe UI"/>
              </a:defRPr>
            </a:pPr>
            <a:r>
              <a:t>  CNOs: "Are we meeting nurse-to-patient ratios on every unit?"</a:t>
            </a:r>
          </a:p>
          <a:p>
            <a:pPr>
              <a:spcAft>
                <a:spcPts val="624"/>
              </a:spcAft>
              <a:defRPr sz="1300" b="0">
                <a:solidFill>
                  <a:srgbClr val="9CA3AF"/>
                </a:solidFill>
                <a:latin typeface="Segoe UI"/>
              </a:defRPr>
            </a:pPr>
            <a:r>
              <a:t>  — CMS citations, Joint Commission findings, patient safety events</a:t>
            </a:r>
          </a:p>
          <a:p>
            <a:pPr>
              <a:spcAft>
                <a:spcPts val="624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24"/>
              </a:spcAft>
              <a:defRPr sz="1300" b="0">
                <a:solidFill>
                  <a:srgbClr val="F87171"/>
                </a:solidFill>
                <a:latin typeface="Segoe UI"/>
              </a:defRPr>
            </a:pPr>
            <a:r>
              <a:t>  CMOs: "Is our call schedule fair — or is it a burnout machine?"</a:t>
            </a:r>
          </a:p>
          <a:p>
            <a:pPr>
              <a:spcAft>
                <a:spcPts val="624"/>
              </a:spcAft>
              <a:defRPr sz="1300" b="0">
                <a:solidFill>
                  <a:srgbClr val="9CA3AF"/>
                </a:solidFill>
                <a:latin typeface="Segoe UI"/>
              </a:defRPr>
            </a:pPr>
            <a:r>
              <a:t>  — Unfair schedules drive 43% of nursing turnover ($56K per nurse lost)</a:t>
            </a:r>
          </a:p>
          <a:p>
            <a:pPr>
              <a:spcAft>
                <a:spcPts val="624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24"/>
              </a:spcAft>
              <a:defRPr sz="1300" b="0">
                <a:solidFill>
                  <a:srgbClr val="F87171"/>
                </a:solidFill>
                <a:latin typeface="Segoe UI"/>
              </a:defRPr>
            </a:pPr>
            <a:r>
              <a:t>  HR/Compliance: "Can we prove we checked before we published?"</a:t>
            </a:r>
          </a:p>
          <a:p>
            <a:pPr>
              <a:spcAft>
                <a:spcPts val="624"/>
              </a:spcAft>
              <a:defRPr sz="1300" b="0">
                <a:solidFill>
                  <a:srgbClr val="9CA3AF"/>
                </a:solidFill>
                <a:latin typeface="Segoe UI"/>
              </a:defRPr>
            </a:pPr>
            <a:r>
              <a:t>  — DOL investigations, class-actions, no audit trail of compliance checks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This Happens Every Week in Your Hospital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1645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37160" cy="164592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ACGME Violation — Caught Too 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373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Dr. Patel worked 84 hours this week. Nobody noticed until the quarterly ACGME report. The program is now on probation for 6 months. Three applicants withdrew their match preferences.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77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Segoe UI"/>
              </a:defRPr>
            </a:pPr>
            <a:r>
              <a:t>flags it Monday morning — BEFORE the schedule is published.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10698480" cy="1645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137160" cy="164592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200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923C"/>
                </a:solidFill>
                <a:latin typeface="Segoe UI"/>
              </a:defRPr>
            </a:pPr>
            <a:r>
              <a:t>Nurse Clopening — Fatigue Incident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5661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RN Sarah Chen closed at 11PM Saturday, opened at 6AM Sunday (5hr rest). She made a medication error at 4AM. The family filed a complaint. CMS is investigating.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2062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Segoe UI"/>
              </a:defRPr>
            </a:pPr>
            <a:r>
              <a:t>blocks the schedule: "REST-002: Less than 8h rest. Fix: Move Sunday start to 10AM."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937760"/>
            <a:ext cx="10698480" cy="1645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4937760"/>
            <a:ext cx="137160" cy="164592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Segoe UI"/>
              </a:defRPr>
            </a:pPr>
            <a:r>
              <a:t>Unfair Call Distribution — Grievance Filed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3949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The nurses' union filed a grievance: 4 nurses worked every holiday in 2025 while 6 never worked one. The chief always gave herself preferred schedules. Arbitration cost $180K.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6035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Segoe UI"/>
              </a:defRPr>
            </a:pPr>
            <a:r>
              <a:t>ShiftGuard's fairness engine distributes automatically. Every decision explained in writing.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How ShiftGuard Works for Hospitals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657600" cy="4846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94A2"/>
                </a:solidFill>
                <a:latin typeface="Segoe UI"/>
              </a:defRPr>
            </a:pPr>
            <a:r>
              <a:t>Program Director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92"/>
              </a:spcAft>
              <a:defRPr sz="1100" b="0">
                <a:solidFill>
                  <a:srgbClr val="D1D5DB"/>
                </a:solidFill>
                <a:latin typeface="Segoe UI"/>
              </a:defRPr>
            </a:pPr>
            <a:r>
              <a:t>• See ACGME compliance status across ALL residents at a glance</a:t>
            </a:r>
          </a:p>
          <a:p>
            <a:pPr>
              <a:spcAft>
                <a:spcPts val="792"/>
              </a:spcAft>
              <a:defRPr sz="1100" b="0">
                <a:solidFill>
                  <a:srgbClr val="D1D5DB"/>
                </a:solidFill>
                <a:latin typeface="Segoe UI"/>
              </a:defRPr>
            </a:pPr>
            <a:r>
              <a:t>• 80h/week 4-week rolling average — tracked automatically</a:t>
            </a:r>
          </a:p>
          <a:p>
            <a:pPr>
              <a:spcAft>
                <a:spcPts val="792"/>
              </a:spcAft>
              <a:defRPr sz="1100" b="0">
                <a:solidFill>
                  <a:srgbClr val="D1D5DB"/>
                </a:solidFill>
                <a:latin typeface="Segoe UI"/>
              </a:defRPr>
            </a:pPr>
            <a:r>
              <a:t>• Swap requests pre-checked: "Will this swap violate 24+4?"</a:t>
            </a:r>
          </a:p>
          <a:p>
            <a:pPr>
              <a:spcAft>
                <a:spcPts val="792"/>
              </a:spcAft>
              <a:defRPr sz="1100" b="0">
                <a:solidFill>
                  <a:srgbClr val="D1D5DB"/>
                </a:solidFill>
                <a:latin typeface="Segoe UI"/>
              </a:defRPr>
            </a:pPr>
            <a:r>
              <a:t>• Generate fair year schedule (AI distributes nights/weekends equally)</a:t>
            </a:r>
          </a:p>
          <a:p>
            <a:pPr>
              <a:spcAft>
                <a:spcPts val="792"/>
              </a:spcAft>
              <a:defRPr sz="1100" b="0">
                <a:solidFill>
                  <a:srgbClr val="D1D5DB"/>
                </a:solidFill>
                <a:latin typeface="Segoe UI"/>
              </a:defRPr>
            </a:pPr>
            <a:r>
              <a:t>• One-click ACGME report for site visits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657600" cy="4846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EA5E9"/>
                </a:solidFill>
                <a:latin typeface="Segoe UI"/>
              </a:defRPr>
            </a:pPr>
            <a:r>
              <a:t>Nurse Manager / CNO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92"/>
              </a:spcAft>
              <a:defRPr sz="1100" b="0">
                <a:solidFill>
                  <a:srgbClr val="D1D5DB"/>
                </a:solidFill>
                <a:latin typeface="Segoe UI"/>
              </a:defRPr>
            </a:pPr>
            <a:r>
              <a:t>• Staffing ratios checked per unit (ICU 1:2, Med-Surg 1:5, ED 1:4)</a:t>
            </a:r>
          </a:p>
          <a:p>
            <a:pPr>
              <a:spcAft>
                <a:spcPts val="792"/>
              </a:spcAft>
              <a:defRPr sz="1100" b="0">
                <a:solidFill>
                  <a:srgbClr val="D1D5DB"/>
                </a:solidFill>
                <a:latin typeface="Segoe UI"/>
              </a:defRPr>
            </a:pPr>
            <a:r>
              <a:t>• Clopening detection with auto-fix suggestions</a:t>
            </a:r>
          </a:p>
          <a:p>
            <a:pPr>
              <a:spcAft>
                <a:spcPts val="792"/>
              </a:spcAft>
              <a:defRPr sz="1100" b="0">
                <a:solidFill>
                  <a:srgbClr val="D1D5DB"/>
                </a:solidFill>
                <a:latin typeface="Segoe UI"/>
              </a:defRPr>
            </a:pPr>
            <a:r>
              <a:t>• Fairness dashboard: OT, nights, weekends, holidays per nurse</a:t>
            </a:r>
          </a:p>
          <a:p>
            <a:pPr>
              <a:spcAft>
                <a:spcPts val="792"/>
              </a:spcAft>
              <a:defRPr sz="1100" b="0">
                <a:solidFill>
                  <a:srgbClr val="D1D5DB"/>
                </a:solidFill>
                <a:latin typeface="Segoe UI"/>
              </a:defRPr>
            </a:pPr>
            <a:r>
              <a:t>• Self-healing: callout at 5AM → auto-finds qualified, rested coverage</a:t>
            </a:r>
          </a:p>
          <a:p>
            <a:pPr>
              <a:spcAft>
                <a:spcPts val="792"/>
              </a:spcAft>
              <a:defRPr sz="1100" b="0">
                <a:solidFill>
                  <a:srgbClr val="D1D5DB"/>
                </a:solidFill>
                <a:latin typeface="Segoe UI"/>
              </a:defRPr>
            </a:pPr>
            <a:r>
              <a:t>• Credential expiry alerts (BLS, ACLS, RN license, NRP)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371600"/>
            <a:ext cx="3657600" cy="4846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Segoe UI"/>
              </a:defRPr>
            </a:pPr>
            <a:r>
              <a:t>Admin / HR / Compliance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0116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92"/>
              </a:spcAft>
              <a:defRPr sz="1100" b="0">
                <a:solidFill>
                  <a:srgbClr val="D1D5DB"/>
                </a:solidFill>
                <a:latin typeface="Segoe UI"/>
              </a:defRPr>
            </a:pPr>
            <a:r>
              <a:t>• Full audit trail: every schedule checked, timestamped, exportable</a:t>
            </a:r>
          </a:p>
          <a:p>
            <a:pPr>
              <a:spcAft>
                <a:spcPts val="792"/>
              </a:spcAft>
              <a:defRPr sz="1100" b="0">
                <a:solidFill>
                  <a:srgbClr val="D1D5DB"/>
                </a:solidFill>
                <a:latin typeface="Segoe UI"/>
              </a:defRPr>
            </a:pPr>
            <a:r>
              <a:t>• Bias audit (EEOC four-fifths rule, NYC Local Law 144)</a:t>
            </a:r>
          </a:p>
          <a:p>
            <a:pPr>
              <a:spcAft>
                <a:spcPts val="792"/>
              </a:spcAft>
              <a:defRPr sz="1100" b="0">
                <a:solidFill>
                  <a:srgbClr val="D1D5DB"/>
                </a:solidFill>
                <a:latin typeface="Segoe UI"/>
              </a:defRPr>
            </a:pPr>
            <a:r>
              <a:t>• FMLA auto-triggers on 3+ day absences (within 5-day federal deadline)</a:t>
            </a:r>
          </a:p>
          <a:p>
            <a:pPr>
              <a:spcAft>
                <a:spcPts val="792"/>
              </a:spcAft>
              <a:defRPr sz="1100" b="0">
                <a:solidFill>
                  <a:srgbClr val="D1D5DB"/>
                </a:solidFill>
                <a:latin typeface="Segoe UI"/>
              </a:defRPr>
            </a:pPr>
            <a:r>
              <a:t>• DOL investigation defense package (one-click)</a:t>
            </a:r>
          </a:p>
          <a:p>
            <a:pPr>
              <a:spcAft>
                <a:spcPts val="792"/>
              </a:spcAft>
              <a:defRPr sz="1100" b="0">
                <a:solidFill>
                  <a:srgbClr val="D1D5DB"/>
                </a:solidFill>
                <a:latin typeface="Segoe UI"/>
              </a:defRPr>
            </a:pPr>
            <a:r>
              <a:t>• ROI dashboard: penalties avoided, retention savings, time saved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ACGME Compliance — Automated, Not Manual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1D5DB"/>
                </a:solidFill>
                <a:latin typeface="Segoe UI"/>
              </a:defRPr>
            </a:pPr>
            <a:r>
              <a:t>Every Common Program Requirement checked in real-time for every resident: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A5E9"/>
                </a:solidFill>
                <a:latin typeface="Segoe UI"/>
              </a:defRPr>
            </a:pPr>
            <a:r>
              <a:t>ACGME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A5E9"/>
                </a:solidFill>
                <a:latin typeface="Segoe UI"/>
              </a:defRPr>
            </a:pPr>
            <a:r>
              <a:t>What It Means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A5E9"/>
                </a:solidFill>
                <a:latin typeface="Segoe UI"/>
              </a:defRPr>
            </a:pPr>
            <a:r>
              <a:t>ShiftGuard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80-Hour Weekly Limit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148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4-week rolling average, including moonlighting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2148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DE80"/>
                </a:solidFill>
                <a:latin typeface="Segoe UI"/>
              </a:defRPr>
            </a:pPr>
            <a:r>
              <a:t>✔ Auto-tracked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243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24+4 Hour Shift Cap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6243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Max 24h continuous + 4h handoff/education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26243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DE80"/>
                </a:solidFill>
                <a:latin typeface="Segoe UI"/>
              </a:defRPr>
            </a:pPr>
            <a:r>
              <a:t>✔ Flagged at hour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998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 Day Off in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09981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Averaged over 4 weeks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309981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DE80"/>
                </a:solidFill>
                <a:latin typeface="Segoe UI"/>
              </a:defRPr>
            </a:pPr>
            <a:r>
              <a:t>✔ Auto-calculated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7530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10-Hour Rest Between Shifts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57530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After 24h duty or night float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35753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DE80"/>
                </a:solidFill>
                <a:latin typeface="Segoe UI"/>
              </a:defRPr>
            </a:pPr>
            <a:r>
              <a:t>✔ Blocks violations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0507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14-Hour Shift Limit (PGY-1)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0507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Interns cannot exceed 14h continuous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40507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DE80"/>
                </a:solidFill>
                <a:latin typeface="Segoe UI"/>
              </a:defRPr>
            </a:pPr>
            <a:r>
              <a:t>✔ PGY-aware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26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Night Float: Max 6 Consecutive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4526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Cannot exceed 6 consecutive night shifts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4526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DE80"/>
                </a:solidFill>
                <a:latin typeface="Segoe UI"/>
              </a:defRPr>
            </a:pPr>
            <a:r>
              <a:t>✔ Auto-counts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0017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Every 3rd Night Call Max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50017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In-house call frequency limit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50017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DE80"/>
                </a:solidFill>
                <a:latin typeface="Segoe UI"/>
              </a:defRPr>
            </a:pPr>
            <a:r>
              <a:t>✔ Pattern 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7725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4h/Week Education Protected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54772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Didactic time cannot be scheduled over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547725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DE80"/>
                </a:solidFill>
                <a:latin typeface="Segoe UI"/>
              </a:defRPr>
            </a:pPr>
            <a:r>
              <a:t>✔ Blocks scheduling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95274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Moonlighting Counts Toward 80h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595274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External work included in cap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595274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DE80"/>
                </a:solidFill>
                <a:latin typeface="Segoe UI"/>
              </a:defRPr>
            </a:pPr>
            <a:r>
              <a:t>✔ Self-reported + tracked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923C"/>
                </a:solidFill>
                <a:latin typeface="Segoe UI"/>
              </a:defRPr>
            </a:pPr>
            <a:r>
              <a:t>These rules are LOCKED — cannot be overridden. ShiftGuard enforces them as law, not preference.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Meet Otto — Your AI Scheduling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1D5DB"/>
                </a:solidFill>
                <a:latin typeface="Segoe UI"/>
              </a:defRPr>
            </a:pPr>
            <a:r>
              <a:t>Ask anything about your schedule in plain English. Get instant, accurate answers.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6400800" cy="4572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4"/>
              </a:spcAft>
              <a:defRPr sz="1100" b="0">
                <a:solidFill>
                  <a:srgbClr val="D1D5DB"/>
                </a:solidFill>
                <a:latin typeface="Segoe UI"/>
              </a:defRPr>
            </a:pPr>
            <a:r>
              <a:t>You: "Can Dr. Patel cover tonight's shift?"</a:t>
            </a:r>
          </a:p>
          <a:p>
            <a:pPr>
              <a:spcAft>
                <a:spcPts val="484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84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Otto: No. Dr. Patel is at 76 hours this week (4-week avg: 78h).</a:t>
            </a:r>
          </a:p>
          <a:p>
            <a:pPr>
              <a:spcAft>
                <a:spcPts val="484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Adding tonight's 12h shift would put him at 88h — exceeding the</a:t>
            </a:r>
          </a:p>
          <a:p>
            <a:pPr>
              <a:spcAft>
                <a:spcPts val="484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ACGME 80h limit by 8 hours.</a:t>
            </a:r>
          </a:p>
          <a:p>
            <a:pPr>
              <a:spcAft>
                <a:spcPts val="484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84"/>
              </a:spcAft>
              <a:defRPr sz="1100" b="0">
                <a:solidFill>
                  <a:srgbClr val="4ADE80"/>
                </a:solidFill>
                <a:latin typeface="Segoe UI"/>
              </a:defRPr>
            </a:pPr>
            <a:r>
              <a:t>Recommended alternative: Dr. Kim (62h this week, lowest night</a:t>
            </a:r>
          </a:p>
          <a:p>
            <a:pPr>
              <a:spcAft>
                <a:spcPts val="484"/>
              </a:spcAft>
              <a:defRPr sz="1100" b="0">
                <a:solidFill>
                  <a:srgbClr val="4ADE80"/>
                </a:solidFill>
                <a:latin typeface="Segoe UI"/>
              </a:defRPr>
            </a:pPr>
            <a:r>
              <a:t>count this rotation, ACGME-safe for 12h coverage).</a:t>
            </a:r>
          </a:p>
          <a:p>
            <a:pPr>
              <a:spcAft>
                <a:spcPts val="484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84"/>
              </a:spcAft>
              <a:defRPr sz="1100" b="0">
                <a:solidFill>
                  <a:srgbClr val="D1D5DB"/>
                </a:solidFill>
                <a:latin typeface="Segoe UI"/>
              </a:defRPr>
            </a:pPr>
            <a:r>
              <a:t>You: "Generate a fair call schedule for July"</a:t>
            </a:r>
          </a:p>
          <a:p>
            <a:pPr>
              <a:spcAft>
                <a:spcPts val="484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484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Otto: Done. 31 nights distributed across 5 residents:</a:t>
            </a:r>
          </a:p>
          <a:p>
            <a:pPr>
              <a:spcAft>
                <a:spcPts val="484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  • Patel: 6 nights (was 7 last month — rebalanced)</a:t>
            </a:r>
          </a:p>
          <a:p>
            <a:pPr>
              <a:spcAft>
                <a:spcPts val="484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  • Kim: 7 nights | Reeves: 6 | Santos: 6 | Park: 6</a:t>
            </a:r>
          </a:p>
          <a:p>
            <a:pPr>
              <a:spcAft>
                <a:spcPts val="484"/>
              </a:spcAft>
              <a:defRPr sz="1100" b="0">
                <a:solidFill>
                  <a:srgbClr val="4ADE80"/>
                </a:solidFill>
                <a:latin typeface="Segoe UI"/>
              </a:defRPr>
            </a:pPr>
            <a:r>
              <a:t>  Night deviation: 0.4 (excellent fairness).</a:t>
            </a:r>
          </a:p>
          <a:p>
            <a:pPr>
              <a:spcAft>
                <a:spcPts val="484"/>
              </a:spcAft>
              <a:defRPr sz="1100" b="0">
                <a:solidFill>
                  <a:srgbClr val="4ADE80"/>
                </a:solidFill>
                <a:latin typeface="Segoe UI"/>
              </a:defRPr>
            </a:pPr>
            <a:r>
              <a:t>  No ACGME violations. No 24+4 conflicts.</a:t>
            </a:r>
          </a:p>
          <a:p>
            <a:pPr>
              <a:spcAft>
                <a:spcPts val="484"/>
              </a:spcAft>
              <a:defRPr sz="1100" b="0">
                <a:solidFill>
                  <a:srgbClr val="0EA5E9"/>
                </a:solidFill>
                <a:latin typeface="Segoe UI"/>
              </a:defRPr>
            </a:pPr>
            <a:r>
              <a:t>  [Publish]  [Adjust]  [Show Fairness Scorecard]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73736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76"/>
              </a:spcAft>
              <a:defRPr sz="1300" b="1">
                <a:solidFill>
                  <a:srgbClr val="0EA5E9"/>
                </a:solidFill>
                <a:latin typeface="Segoe UI"/>
              </a:defRPr>
            </a:pPr>
            <a:r>
              <a:t>Otto knows:</a:t>
            </a:r>
          </a:p>
          <a:p>
            <a:pPr>
              <a:spcAft>
                <a:spcPts val="676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76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• Every resident's hours (live)</a:t>
            </a:r>
          </a:p>
          <a:p>
            <a:pPr>
              <a:spcAft>
                <a:spcPts val="676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• ACGME rules per PGY level</a:t>
            </a:r>
          </a:p>
          <a:p>
            <a:pPr>
              <a:spcAft>
                <a:spcPts val="676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• Who's on call, on leave, available</a:t>
            </a:r>
          </a:p>
          <a:p>
            <a:pPr>
              <a:spcAft>
                <a:spcPts val="676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• Historical fairness scores</a:t>
            </a:r>
          </a:p>
          <a:p>
            <a:pPr>
              <a:spcAft>
                <a:spcPts val="676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• Credential status</a:t>
            </a:r>
          </a:p>
          <a:p>
            <a:pPr>
              <a:spcAft>
                <a:spcPts val="676"/>
              </a:spcAft>
              <a:defRPr sz="1300" b="0">
                <a:solidFill>
                  <a:srgbClr val="D1D5DB"/>
                </a:solidFill>
                <a:latin typeface="Segoe UI"/>
              </a:defRPr>
            </a:pPr>
            <a:r>
              <a:t>• CBA / union constraints</a:t>
            </a:r>
          </a:p>
          <a:p>
            <a:pPr>
              <a:spcAft>
                <a:spcPts val="676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76"/>
              </a:spcAft>
              <a:defRPr sz="1300" b="1">
                <a:solidFill>
                  <a:srgbClr val="FB923C"/>
                </a:solidFill>
                <a:latin typeface="Segoe UI"/>
              </a:defRPr>
            </a:pPr>
            <a:r>
              <a:t>No clarifying questions.</a:t>
            </a:r>
          </a:p>
          <a:p>
            <a:pPr>
              <a:spcAft>
                <a:spcPts val="676"/>
              </a:spcAft>
              <a:defRPr sz="1300" b="1">
                <a:solidFill>
                  <a:srgbClr val="FB923C"/>
                </a:solidFill>
                <a:latin typeface="Segoe UI"/>
              </a:defRPr>
            </a:pPr>
            <a:r>
              <a:t>Answers directly with data.</a:t>
            </a:r>
          </a:p>
          <a:p>
            <a:pPr>
              <a:spcAft>
                <a:spcPts val="676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76"/>
              </a:spcAft>
              <a:defRPr sz="1300" b="0">
                <a:solidFill>
                  <a:srgbClr val="9CA3AF"/>
                </a:solidFill>
                <a:latin typeface="Segoe UI"/>
              </a:defRPr>
            </a:pPr>
            <a:r>
              <a:t>Available 24/7.</a:t>
            </a:r>
          </a:p>
          <a:p>
            <a:pPr>
              <a:spcAft>
                <a:spcPts val="676"/>
              </a:spcAft>
              <a:defRPr sz="1300" b="0">
                <a:solidFill>
                  <a:srgbClr val="9CA3AF"/>
                </a:solidFill>
                <a:latin typeface="Segoe UI"/>
              </a:defRPr>
            </a:pPr>
            <a:r>
              <a:t>Cheaper than a phone call</a:t>
            </a:r>
          </a:p>
          <a:p>
            <a:pPr>
              <a:spcAft>
                <a:spcPts val="676"/>
              </a:spcAft>
              <a:defRPr sz="1300" b="0">
                <a:solidFill>
                  <a:srgbClr val="9CA3AF"/>
                </a:solidFill>
                <a:latin typeface="Segoe UI"/>
              </a:defRPr>
            </a:pPr>
            <a:r>
              <a:t>to the chief at 2AM.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Self-Healing Schedules: Jeopardy + Predictive Callouts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486400" cy="4846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94A2"/>
                </a:solidFill>
                <a:latin typeface="Segoe UI"/>
              </a:defRPr>
            </a:pPr>
            <a:r>
              <a:t>Jeopardy (Backup)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 b="1">
                <a:solidFill>
                  <a:srgbClr val="9CA3AF"/>
                </a:solidFill>
                <a:latin typeface="Segoe UI"/>
              </a:defRPr>
            </a:pPr>
            <a:r>
              <a:t>How it works today (manual):</a:t>
            </a:r>
          </a:p>
          <a:p>
            <a:pPr>
              <a:spcAft>
                <a:spcPts val="576"/>
              </a:spcAft>
              <a:defRPr sz="1200" b="0">
                <a:solidFill>
                  <a:srgbClr val="9CA3AF"/>
                </a:solidFill>
                <a:latin typeface="Segoe UI"/>
              </a:defRPr>
            </a:pPr>
            <a:r>
              <a:t>  Resident calls out at 5AM → Chief gets woken up →</a:t>
            </a:r>
          </a:p>
          <a:p>
            <a:pPr>
              <a:spcAft>
                <a:spcPts val="576"/>
              </a:spcAft>
              <a:defRPr sz="1200" b="0">
                <a:solidFill>
                  <a:srgbClr val="9CA3AF"/>
                </a:solidFill>
                <a:latin typeface="Segoe UI"/>
              </a:defRPr>
            </a:pPr>
            <a:r>
              <a:t>  Calls 4 people → finds someone → 2 hours of chaos</a:t>
            </a:r>
          </a:p>
          <a:p>
            <a:pPr>
              <a:spcAft>
                <a:spcPts val="576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576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How it works with ShiftGuard:</a:t>
            </a:r>
          </a:p>
          <a:p>
            <a:pPr>
              <a:spcAft>
                <a:spcPts val="576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576"/>
              </a:spcAft>
              <a:defRPr sz="1200" b="0">
                <a:solidFill>
                  <a:srgbClr val="4ADE80"/>
                </a:solidFill>
                <a:latin typeface="Segoe UI"/>
              </a:defRPr>
            </a:pPr>
            <a:r>
              <a:t>  1. Pre-assigned backup for every shift (fairness-ranked)</a:t>
            </a:r>
          </a:p>
          <a:p>
            <a:pPr>
              <a:spcAft>
                <a:spcPts val="576"/>
              </a:spcAft>
              <a:defRPr sz="1200" b="0">
                <a:solidFill>
                  <a:srgbClr val="4ADE80"/>
                </a:solidFill>
                <a:latin typeface="Segoe UI"/>
              </a:defRPr>
            </a:pPr>
            <a:r>
              <a:t>  2. ACGME pre-checked (won't assign if it violates 80h)</a:t>
            </a:r>
          </a:p>
          <a:p>
            <a:pPr>
              <a:spcAft>
                <a:spcPts val="576"/>
              </a:spcAft>
              <a:defRPr sz="1200" b="0">
                <a:solidFill>
                  <a:srgbClr val="4ADE80"/>
                </a:solidFill>
                <a:latin typeface="Segoe UI"/>
              </a:defRPr>
            </a:pPr>
            <a:r>
              <a:t>  3. Callout confirmed → backup auto-activated</a:t>
            </a:r>
          </a:p>
          <a:p>
            <a:pPr>
              <a:spcAft>
                <a:spcPts val="576"/>
              </a:spcAft>
              <a:defRPr sz="1200" b="0">
                <a:solidFill>
                  <a:srgbClr val="4ADE80"/>
                </a:solidFill>
                <a:latin typeface="Segoe UI"/>
              </a:defRPr>
            </a:pPr>
            <a:r>
              <a:t>  4. Chief wakes up to: "Covered. Dr. Kim accepted 5:12AM"</a:t>
            </a:r>
          </a:p>
          <a:p>
            <a:pPr>
              <a:spcAft>
                <a:spcPts val="576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576"/>
              </a:spcAft>
              <a:defRPr sz="1200" b="1">
                <a:solidFill>
                  <a:srgbClr val="0EA5E9"/>
                </a:solidFill>
                <a:latin typeface="Segoe UI"/>
              </a:defRPr>
            </a:pPr>
            <a:r>
              <a:t>Pattern learning:</a:t>
            </a:r>
          </a:p>
          <a:p>
            <a:pPr>
              <a:spcAft>
                <a:spcPts val="576"/>
              </a:spcAft>
              <a:defRPr sz="1200" b="0">
                <a:solidFill>
                  <a:srgbClr val="D1D5DB"/>
                </a:solidFill>
                <a:latin typeface="Segoe UI"/>
              </a:defRPr>
            </a:pPr>
            <a:r>
              <a:t>  • Learns who calls out on which days</a:t>
            </a:r>
          </a:p>
          <a:p>
            <a:pPr>
              <a:spcAft>
                <a:spcPts val="576"/>
              </a:spcAft>
              <a:defRPr sz="1200" b="0">
                <a:solidFill>
                  <a:srgbClr val="D1D5DB"/>
                </a:solidFill>
                <a:latin typeface="Segoe UI"/>
              </a:defRPr>
            </a:pPr>
            <a:r>
              <a:t>  • Post-night-float, post-call patterns detected</a:t>
            </a:r>
          </a:p>
          <a:p>
            <a:pPr>
              <a:spcAft>
                <a:spcPts val="576"/>
              </a:spcAft>
              <a:defRPr sz="1200" b="0">
                <a:solidFill>
                  <a:srgbClr val="D1D5DB"/>
                </a:solidFill>
                <a:latin typeface="Segoe UI"/>
              </a:defRPr>
            </a:pPr>
            <a:r>
              <a:t>  • 24-48h lookahead: "78% chance callout Friday"</a:t>
            </a:r>
          </a:p>
          <a:p>
            <a:pPr>
              <a:spcAft>
                <a:spcPts val="576"/>
              </a:spcAft>
              <a:defRPr sz="1200" b="0">
                <a:solidFill>
                  <a:srgbClr val="D1D5DB"/>
                </a:solidFill>
                <a:latin typeface="Segoe UI"/>
              </a:defRPr>
            </a:pPr>
            <a:r>
              <a:t>  • Pre-positions standby BEFORE the callout happens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371600"/>
            <a:ext cx="5029200" cy="4846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A5E9"/>
                </a:solidFill>
                <a:latin typeface="Segoe UI"/>
              </a:defRPr>
            </a:pPr>
            <a:r>
              <a:t>Nursing Self-Healing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When a gap appears:</a:t>
            </a:r>
          </a:p>
          <a:p>
            <a:pPr>
              <a:spcAft>
                <a:spcPts val="576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576"/>
              </a:spcAft>
              <a:defRPr sz="1200" b="0">
                <a:solidFill>
                  <a:srgbClr val="D1D5DB"/>
                </a:solidFill>
                <a:latin typeface="Segoe UI"/>
              </a:defRPr>
            </a:pPr>
            <a:r>
              <a:t>  Step 1: Check pre-declared volunteers first</a:t>
            </a:r>
          </a:p>
          <a:p>
            <a:pPr>
              <a:spcAft>
                <a:spcPts val="576"/>
              </a:spcAft>
              <a:defRPr sz="1200" b="0">
                <a:solidFill>
                  <a:srgbClr val="D1D5DB"/>
                </a:solidFill>
                <a:latin typeface="Segoe UI"/>
              </a:defRPr>
            </a:pPr>
            <a:r>
              <a:t>  Step 2: Offer to lowest-OT qualified nurses</a:t>
            </a:r>
          </a:p>
          <a:p>
            <a:pPr>
              <a:spcAft>
                <a:spcPts val="576"/>
              </a:spcAft>
              <a:defRPr sz="1200" b="0">
                <a:solidFill>
                  <a:srgbClr val="D1D5DB"/>
                </a:solidFill>
                <a:latin typeface="Segoe UI"/>
              </a:defRPr>
            </a:pPr>
            <a:r>
              <a:t>  Step 3: Broadcast to all eligible (Uber model)</a:t>
            </a:r>
          </a:p>
          <a:p>
            <a:pPr>
              <a:spcAft>
                <a:spcPts val="576"/>
              </a:spcAft>
              <a:defRPr sz="1200" b="0">
                <a:solidFill>
                  <a:srgbClr val="D1D5DB"/>
                </a:solidFill>
                <a:latin typeface="Segoe UI"/>
              </a:defRPr>
            </a:pPr>
            <a:r>
              <a:t>  Step 4: Mandatory assignment (fairness-ranked)</a:t>
            </a:r>
          </a:p>
          <a:p>
            <a:pPr>
              <a:spcAft>
                <a:spcPts val="576"/>
              </a:spcAft>
              <a:defRPr sz="1200" b="0">
                <a:solidFill>
                  <a:srgbClr val="D1D5DB"/>
                </a:solidFill>
                <a:latin typeface="Segoe UI"/>
              </a:defRPr>
            </a:pPr>
            <a:r>
              <a:t>  Step 5: Agency escalation (last resort)</a:t>
            </a:r>
          </a:p>
          <a:p>
            <a:pPr>
              <a:spcAft>
                <a:spcPts val="576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576"/>
              </a:spcAft>
              <a:defRPr sz="1200" b="1">
                <a:solidFill>
                  <a:srgbClr val="0EA5E9"/>
                </a:solidFill>
                <a:latin typeface="Segoe UI"/>
              </a:defRPr>
            </a:pPr>
            <a:r>
              <a:t>Every step checks:</a:t>
            </a:r>
          </a:p>
          <a:p>
            <a:pPr>
              <a:spcAft>
                <a:spcPts val="576"/>
              </a:spcAft>
              <a:defRPr sz="1200" b="0">
                <a:solidFill>
                  <a:srgbClr val="4ADE80"/>
                </a:solidFill>
                <a:latin typeface="Segoe UI"/>
              </a:defRPr>
            </a:pPr>
            <a:r>
              <a:t>  • Rest period compliance</a:t>
            </a:r>
          </a:p>
          <a:p>
            <a:pPr>
              <a:spcAft>
                <a:spcPts val="576"/>
              </a:spcAft>
              <a:defRPr sz="1200" b="0">
                <a:solidFill>
                  <a:srgbClr val="4ADE80"/>
                </a:solidFill>
                <a:latin typeface="Segoe UI"/>
              </a:defRPr>
            </a:pPr>
            <a:r>
              <a:t>  • OT budget impact</a:t>
            </a:r>
          </a:p>
          <a:p>
            <a:pPr>
              <a:spcAft>
                <a:spcPts val="576"/>
              </a:spcAft>
              <a:defRPr sz="1200" b="0">
                <a:solidFill>
                  <a:srgbClr val="4ADE80"/>
                </a:solidFill>
                <a:latin typeface="Segoe UI"/>
              </a:defRPr>
            </a:pPr>
            <a:r>
              <a:t>  • Credential validity</a:t>
            </a:r>
          </a:p>
          <a:p>
            <a:pPr>
              <a:spcAft>
                <a:spcPts val="576"/>
              </a:spcAft>
              <a:defRPr sz="1200" b="0">
                <a:solidFill>
                  <a:srgbClr val="4ADE80"/>
                </a:solidFill>
                <a:latin typeface="Segoe UI"/>
              </a:defRPr>
            </a:pPr>
            <a:r>
              <a:t>  • Unit competency (ICU-trained? ED-trained?)</a:t>
            </a:r>
          </a:p>
          <a:p>
            <a:pPr>
              <a:spcAft>
                <a:spcPts val="576"/>
              </a:spcAft>
              <a:defRPr sz="1200" b="0">
                <a:solidFill>
                  <a:srgbClr val="4ADE80"/>
                </a:solidFill>
                <a:latin typeface="Segoe UI"/>
              </a:defRPr>
            </a:pPr>
            <a:r>
              <a:t>  • Fairness score (who's been asked most?)</a:t>
            </a:r>
          </a:p>
          <a:p>
            <a:pPr>
              <a:spcAft>
                <a:spcPts val="576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576"/>
              </a:spcAft>
              <a:defRPr sz="1200" b="1">
                <a:solidFill>
                  <a:srgbClr val="4ADE80"/>
                </a:solidFill>
                <a:latin typeface="Segoe UI"/>
              </a:defRPr>
            </a:pPr>
            <a:r>
              <a:t>Result: Gaps filled in minutes, not hours.</a:t>
            </a:r>
          </a:p>
          <a:p>
            <a:pPr>
              <a:spcAft>
                <a:spcPts val="576"/>
              </a:spcAft>
              <a:defRPr sz="1200" b="0">
                <a:solidFill>
                  <a:srgbClr val="9CA3AF"/>
                </a:solidFill>
                <a:latin typeface="Segoe UI"/>
              </a:defRPr>
            </a:pPr>
            <a:r>
              <a:t>Manager time saved: 5-10 hours/week.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Fairness Engine — Your Retention Weapon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B923C"/>
                </a:solidFill>
                <a:latin typeface="Segoe UI"/>
              </a:defRPr>
            </a:pPr>
            <a:r>
              <a:t>43% of nurse turnover is driven by perceived schedule unfairness. Each lost nurse costs $56K.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394960" cy="11887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Night Shifts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Equal distribution across rotation. Year-over-year tracking.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737360"/>
            <a:ext cx="5394960" cy="11887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874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Weekends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2402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Nobody works 3 weekends in a row while others get every weekend off.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394960" cy="11887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337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Holidays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033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Priority-based auction. If you got Christmas, you're lower priority for New Year's.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3200400"/>
            <a:ext cx="5394960" cy="11887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3337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Overtime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7033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OT hours distributed equitably. No one person always gets asked.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63440"/>
            <a:ext cx="5394960" cy="11887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800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Undesirable Shifts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1663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Friday nights, holiday eves, short-notice coverage — tracked and balanced.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4663440"/>
            <a:ext cx="5394960" cy="11887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4800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Request Burden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51663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Who gets called for coverage most? System rebalances automatically.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EA5E9"/>
                </a:solidFill>
                <a:latin typeface="Segoe UI"/>
              </a:defRPr>
            </a:pPr>
            <a:r>
              <a:t>Every decision explained in plain English: "Assigned to Sarah because she has the lowest night count and is ACGME-safe."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Why Not Just Use QGenda / Amion / UKG?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CA3AF"/>
                </a:solidFill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3383280" y="1280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A5E9"/>
                </a:solidFill>
                <a:latin typeface="Segoe UI"/>
              </a:defRPr>
            </a:pPr>
            <a:r>
              <a:t>ShiftGuard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4960" y="1280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CA3AF"/>
                </a:solidFill>
                <a:latin typeface="Segoe UI"/>
              </a:defRPr>
            </a:pPr>
            <a:r>
              <a:t>QGenda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1280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CA3AF"/>
                </a:solidFill>
                <a:latin typeface="Segoe UI"/>
              </a:defRPr>
            </a:pPr>
            <a:r>
              <a:t>Amion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1280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CA3AF"/>
                </a:solidFill>
                <a:latin typeface="Segoe UI"/>
              </a:defRPr>
            </a:pPr>
            <a:r>
              <a:t>UKG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Real-time ACGME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737360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Segoe UI"/>
              </a:defRPr>
            </a:pPr>
            <a:r>
              <a:t>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173736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7171"/>
                </a:solidFill>
                <a:latin typeface="Segoe UI"/>
              </a:defRPr>
            </a:pPr>
            <a:r>
              <a:t>✖ Retrospective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73736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7171"/>
                </a:solidFill>
                <a:latin typeface="Segoe UI"/>
              </a:defRPr>
            </a:pPr>
            <a:r>
              <a:t>✖ Retrospective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1737360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7171"/>
                </a:solidFill>
                <a:latin typeface="Segoe UI"/>
              </a:defRPr>
            </a:pPr>
            <a:r>
              <a:t>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12848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Pre-publish violation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212848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Segoe UI"/>
              </a:defRPr>
            </a:pPr>
            <a:r>
              <a:t>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212848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7171"/>
                </a:solidFill>
                <a:latin typeface="Segoe UI"/>
              </a:defRPr>
            </a:pPr>
            <a:r>
              <a:t>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212848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7171"/>
                </a:solidFill>
                <a:latin typeface="Segoe UI"/>
              </a:defRPr>
            </a:pPr>
            <a:r>
              <a:t>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2212848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7171"/>
                </a:solidFill>
                <a:latin typeface="Segoe UI"/>
              </a:defRPr>
            </a:pPr>
            <a:r>
              <a:t>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688336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AI fix suggestions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688336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Segoe UI"/>
              </a:defRPr>
            </a:pPr>
            <a:r>
              <a:t>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2688336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7171"/>
                </a:solidFill>
                <a:latin typeface="Segoe UI"/>
              </a:defRPr>
            </a:pPr>
            <a:r>
              <a:t>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2688336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7171"/>
                </a:solidFill>
                <a:latin typeface="Segoe UI"/>
              </a:defRPr>
            </a:pPr>
            <a:r>
              <a:t>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2688336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7171"/>
                </a:solidFill>
                <a:latin typeface="Segoe UI"/>
              </a:defRPr>
            </a:pPr>
            <a:r>
              <a:t>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163824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Penalty $ exposure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163824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Segoe UI"/>
              </a:defRPr>
            </a:pPr>
            <a:r>
              <a:t>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3163824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7171"/>
                </a:solidFill>
                <a:latin typeface="Segoe UI"/>
              </a:defRPr>
            </a:pPr>
            <a:r>
              <a:t>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3163824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7171"/>
                </a:solidFill>
                <a:latin typeface="Segoe UI"/>
              </a:defRPr>
            </a:pPr>
            <a:r>
              <a:t>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3163824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7171"/>
                </a:solidFill>
                <a:latin typeface="Segoe UI"/>
              </a:defRPr>
            </a:pPr>
            <a:r>
              <a:t>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639312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Fairness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3639312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Segoe UI"/>
              </a:defRPr>
            </a:pPr>
            <a:r>
              <a:t>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0" y="3639312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7171"/>
                </a:solidFill>
                <a:latin typeface="Segoe UI"/>
              </a:defRPr>
            </a:pPr>
            <a:r>
              <a:t>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3639312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7171"/>
                </a:solidFill>
                <a:latin typeface="Segoe UI"/>
              </a:defRPr>
            </a:pPr>
            <a:r>
              <a:t>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3639312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7171"/>
                </a:solidFill>
                <a:latin typeface="Segoe UI"/>
              </a:defRPr>
            </a:pPr>
            <a:r>
              <a:t>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114800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Jeopardy auto-activation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4114800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Segoe UI"/>
              </a:defRPr>
            </a:pPr>
            <a:r>
              <a:t>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411480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Partial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411480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7171"/>
                </a:solidFill>
                <a:latin typeface="Segoe UI"/>
              </a:defRPr>
            </a:pPr>
            <a:r>
              <a:t>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4114800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7171"/>
                </a:solidFill>
                <a:latin typeface="Segoe UI"/>
              </a:defRPr>
            </a:pPr>
            <a:r>
              <a:t>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590288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Plain English explanations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4590288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Segoe UI"/>
              </a:defRPr>
            </a:pPr>
            <a:r>
              <a:t>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4960" y="4590288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7171"/>
                </a:solidFill>
                <a:latin typeface="Segoe UI"/>
              </a:defRPr>
            </a:pPr>
            <a:r>
              <a:t>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4590288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7171"/>
                </a:solidFill>
                <a:latin typeface="Segoe UI"/>
              </a:defRPr>
            </a:pPr>
            <a:r>
              <a:t>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66960" y="4590288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7171"/>
                </a:solidFill>
                <a:latin typeface="Segoe UI"/>
              </a:defRPr>
            </a:pPr>
            <a:r>
              <a:t>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065776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Nurse + Resident in one tool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0" y="5065776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Segoe UI"/>
              </a:defRPr>
            </a:pPr>
            <a:r>
              <a:t>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94960" y="5065776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Resident only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60" y="5065776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Resident only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66960" y="5065776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Nurses only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541264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Setup time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83280" y="5541264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Segoe UI"/>
              </a:defRPr>
            </a:pPr>
            <a:r>
              <a:t>1 hour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94960" y="5541264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2-4 weeks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80960" y="5541264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1-2 weeks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60" y="5541264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6-12 months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016752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Price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83280" y="6016752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Segoe UI"/>
              </a:defRPr>
            </a:pPr>
            <a:r>
              <a:t>$20 PEPM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94960" y="6016752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$30-50 PEPM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80960" y="6016752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$15/provider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66960" y="6016752"/>
            <a:ext cx="2011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$50-100+ PEPM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EA5E9"/>
                </a:solidFill>
                <a:latin typeface="Segoe UI"/>
              </a:defRPr>
            </a:pPr>
            <a:r>
              <a:t>Bottom line: QGenda/Amion tell you AFTER. We prevent BEFORE. And we cover nursing + residents in one platform.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ROI: This Pays for Itself in Week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303520" cy="4846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A5E9"/>
                </a:solidFill>
                <a:latin typeface="Segoe UI"/>
              </a:defRPr>
            </a:pPr>
            <a:r>
              <a:t>For a 200-Bed Hospital (300 clinical staff)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Annual Cost of ShiftGuard:</a:t>
            </a:r>
          </a:p>
          <a:p>
            <a:pPr>
              <a:spcAft>
                <a:spcPts val="576"/>
              </a:spcAft>
              <a:defRPr sz="1200" b="0">
                <a:solidFill>
                  <a:srgbClr val="D1D5DB"/>
                </a:solidFill>
                <a:latin typeface="Segoe UI"/>
              </a:defRPr>
            </a:pPr>
            <a:r>
              <a:t>  300 staff × $20/mo × 12 = $72,000/year</a:t>
            </a:r>
          </a:p>
          <a:p>
            <a:pPr>
              <a:spcAft>
                <a:spcPts val="576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576"/>
              </a:spcAft>
              <a:defRPr sz="1200" b="1">
                <a:solidFill>
                  <a:srgbClr val="4ADE80"/>
                </a:solidFill>
                <a:latin typeface="Segoe UI"/>
              </a:defRPr>
            </a:pPr>
            <a:r>
              <a:t>Annual Savings:</a:t>
            </a:r>
          </a:p>
          <a:p>
            <a:pPr>
              <a:spcAft>
                <a:spcPts val="576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576"/>
              </a:spcAft>
              <a:defRPr sz="1200" b="0">
                <a:solidFill>
                  <a:srgbClr val="4ADE80"/>
                </a:solidFill>
                <a:latin typeface="Segoe UI"/>
              </a:defRPr>
            </a:pPr>
            <a:r>
              <a:t>  ACGME violations avoided (2/month × $7,500)     $180,000</a:t>
            </a:r>
          </a:p>
          <a:p>
            <a:pPr>
              <a:spcAft>
                <a:spcPts val="576"/>
              </a:spcAft>
              <a:defRPr sz="1200" b="0">
                <a:solidFill>
                  <a:srgbClr val="4ADE80"/>
                </a:solidFill>
                <a:latin typeface="Segoe UI"/>
              </a:defRPr>
            </a:pPr>
            <a:r>
              <a:t>  Nurse turnover reduction (4 fewer/year × $56K)  $224,000</a:t>
            </a:r>
          </a:p>
          <a:p>
            <a:pPr>
              <a:spcAft>
                <a:spcPts val="576"/>
              </a:spcAft>
              <a:defRPr sz="1200" b="0">
                <a:solidFill>
                  <a:srgbClr val="4ADE80"/>
                </a:solidFill>
                <a:latin typeface="Segoe UI"/>
              </a:defRPr>
            </a:pPr>
            <a:r>
              <a:t>  Agency spend reduction (20% less travel nurses)  $340,000</a:t>
            </a:r>
          </a:p>
          <a:p>
            <a:pPr>
              <a:spcAft>
                <a:spcPts val="576"/>
              </a:spcAft>
              <a:defRPr sz="1200" b="0">
                <a:solidFill>
                  <a:srgbClr val="4ADE80"/>
                </a:solidFill>
                <a:latin typeface="Segoe UI"/>
              </a:defRPr>
            </a:pPr>
            <a:r>
              <a:t>  Manager time saved (6h/week × 10 managers)       $93,600</a:t>
            </a:r>
          </a:p>
          <a:p>
            <a:pPr>
              <a:spcAft>
                <a:spcPts val="576"/>
              </a:spcAft>
              <a:defRPr sz="1200" b="0">
                <a:solidFill>
                  <a:srgbClr val="4ADE80"/>
                </a:solidFill>
                <a:latin typeface="Segoe UI"/>
              </a:defRPr>
            </a:pPr>
            <a:r>
              <a:t>  DOL/CMS penalty avoidance                        $50,000</a:t>
            </a:r>
          </a:p>
          <a:p>
            <a:pPr>
              <a:spcAft>
                <a:spcPts val="576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576"/>
              </a:spcAft>
              <a:defRPr sz="1200" b="1">
                <a:solidFill>
                  <a:srgbClr val="4ADE80"/>
                </a:solidFill>
                <a:latin typeface="Segoe UI"/>
              </a:defRPr>
            </a:pPr>
            <a:r>
              <a:t>  Total Annual Savings:                           $887,600</a:t>
            </a:r>
          </a:p>
          <a:p>
            <a:pPr>
              <a:spcAft>
                <a:spcPts val="576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576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ROI: 12.3x  |  Payback: 30 days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4846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Segoe UI"/>
              </a:defRPr>
            </a:pPr>
            <a:r>
              <a:t>Beyond Dollars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9202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8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Accreditation Protection</a:t>
            </a:r>
          </a:p>
          <a:p>
            <a:pPr>
              <a:spcAft>
                <a:spcPts val="528"/>
              </a:spcAft>
              <a:defRPr sz="1200" b="0">
                <a:solidFill>
                  <a:srgbClr val="D1D5DB"/>
                </a:solidFill>
                <a:latin typeface="Segoe UI"/>
              </a:defRPr>
            </a:pPr>
            <a:r>
              <a:t>  ACGME compliance 100% of the time</a:t>
            </a:r>
          </a:p>
          <a:p>
            <a:pPr>
              <a:spcAft>
                <a:spcPts val="528"/>
              </a:spcAft>
              <a:defRPr sz="1200" b="0">
                <a:solidFill>
                  <a:srgbClr val="D1D5DB"/>
                </a:solidFill>
                <a:latin typeface="Segoe UI"/>
              </a:defRPr>
            </a:pPr>
            <a:r>
              <a:t>  Audit-ready documentation always current</a:t>
            </a:r>
          </a:p>
          <a:p>
            <a:pPr>
              <a:spcAft>
                <a:spcPts val="528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528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Patient Safety</a:t>
            </a:r>
          </a:p>
          <a:p>
            <a:pPr>
              <a:spcAft>
                <a:spcPts val="528"/>
              </a:spcAft>
              <a:defRPr sz="1200" b="0">
                <a:solidFill>
                  <a:srgbClr val="D1D5DB"/>
                </a:solidFill>
                <a:latin typeface="Segoe UI"/>
              </a:defRPr>
            </a:pPr>
            <a:r>
              <a:t>  No fatigued providers on duty</a:t>
            </a:r>
          </a:p>
          <a:p>
            <a:pPr>
              <a:spcAft>
                <a:spcPts val="528"/>
              </a:spcAft>
              <a:defRPr sz="1200" b="0">
                <a:solidFill>
                  <a:srgbClr val="D1D5DB"/>
                </a:solidFill>
                <a:latin typeface="Segoe UI"/>
              </a:defRPr>
            </a:pPr>
            <a:r>
              <a:t>  Proper staffing ratios enforced</a:t>
            </a:r>
          </a:p>
          <a:p>
            <a:pPr>
              <a:spcAft>
                <a:spcPts val="528"/>
              </a:spcAft>
              <a:defRPr sz="1200" b="0">
                <a:solidFill>
                  <a:srgbClr val="D1D5DB"/>
                </a:solidFill>
                <a:latin typeface="Segoe UI"/>
              </a:defRPr>
            </a:pPr>
            <a:r>
              <a:t>  Credential expiry never missed</a:t>
            </a:r>
          </a:p>
          <a:p>
            <a:pPr>
              <a:spcAft>
                <a:spcPts val="528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528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Staff Satisfaction</a:t>
            </a:r>
          </a:p>
          <a:p>
            <a:pPr>
              <a:spcAft>
                <a:spcPts val="528"/>
              </a:spcAft>
              <a:defRPr sz="1200" b="0">
                <a:solidFill>
                  <a:srgbClr val="D1D5DB"/>
                </a:solidFill>
                <a:latin typeface="Segoe UI"/>
              </a:defRPr>
            </a:pPr>
            <a:r>
              <a:t>  Transparent, provably fair schedules</a:t>
            </a:r>
          </a:p>
          <a:p>
            <a:pPr>
              <a:spcAft>
                <a:spcPts val="528"/>
              </a:spcAft>
              <a:defRPr sz="1200" b="0">
                <a:solidFill>
                  <a:srgbClr val="D1D5DB"/>
                </a:solidFill>
                <a:latin typeface="Segoe UI"/>
              </a:defRPr>
            </a:pPr>
            <a:r>
              <a:t>  Self-service requests (auto-approved)</a:t>
            </a:r>
          </a:p>
          <a:p>
            <a:pPr>
              <a:spcAft>
                <a:spcPts val="528"/>
              </a:spcAft>
              <a:defRPr sz="1200" b="0">
                <a:solidFill>
                  <a:srgbClr val="D1D5DB"/>
                </a:solidFill>
                <a:latin typeface="Segoe UI"/>
              </a:defRPr>
            </a:pPr>
            <a:r>
              <a:t>  Mobile app for schedule access anywhere</a:t>
            </a:r>
          </a:p>
          <a:p>
            <a:pPr>
              <a:spcAft>
                <a:spcPts val="528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528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Legal Protection</a:t>
            </a:r>
          </a:p>
          <a:p>
            <a:pPr>
              <a:spcAft>
                <a:spcPts val="528"/>
              </a:spcAft>
              <a:defRPr sz="1200" b="0">
                <a:solidFill>
                  <a:srgbClr val="D1D5DB"/>
                </a:solidFill>
                <a:latin typeface="Segoe UI"/>
              </a:defRPr>
            </a:pPr>
            <a:r>
              <a:t>  Every compliance check timestamped</a:t>
            </a:r>
          </a:p>
          <a:p>
            <a:pPr>
              <a:spcAft>
                <a:spcPts val="528"/>
              </a:spcAft>
              <a:defRPr sz="1200" b="0">
                <a:solidFill>
                  <a:srgbClr val="D1D5DB"/>
                </a:solidFill>
                <a:latin typeface="Segoe UI"/>
              </a:defRPr>
            </a:pPr>
            <a:r>
              <a:t>  Bias audit exportable for EEOC</a:t>
            </a:r>
          </a:p>
          <a:p>
            <a:pPr>
              <a:spcAft>
                <a:spcPts val="528"/>
              </a:spcAft>
              <a:defRPr sz="1200" b="0">
                <a:solidFill>
                  <a:srgbClr val="D1D5DB"/>
                </a:solidFill>
                <a:latin typeface="Segoe UI"/>
              </a:defRPr>
            </a:pPr>
            <a:r>
              <a:t>  Court-admissible audit trail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Implementation: Live in 1 Week, Not 6 Months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371600" cy="10058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  <a:latin typeface="Segoe UI"/>
              </a:defRPr>
            </a:pPr>
            <a:r>
              <a:t>Day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A5E9"/>
                </a:solidFill>
                <a:latin typeface="Segoe UI"/>
              </a:defRPr>
            </a:pPr>
            <a:r>
              <a:t>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783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Add your residents/nurses, define rotations,</a:t>
            </a:r>
            <a:br/>
            <a:r>
              <a:t>set department structure. 1-hour guided wizard.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1371600" cy="1005840"/>
          </a:xfrm>
          <a:prstGeom prst="roundRect">
            <a:avLst/>
          </a:prstGeom>
          <a:solidFill>
            <a:srgbClr val="069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  <a:latin typeface="Segoe UI"/>
              </a:defRPr>
            </a:pPr>
            <a:r>
              <a:t>Day 2-3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697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94A2"/>
                </a:solidFill>
                <a:latin typeface="Segoe UI"/>
              </a:defRPr>
            </a:pPr>
            <a:r>
              <a:t>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30632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Link to UKG/Kronos (API) or upload schedule CSV.</a:t>
            </a:r>
            <a:br/>
            <a:r>
              <a:t>Historical data imported for fairness baseline.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371600" cy="10058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  <a:latin typeface="Segoe UI"/>
              </a:defRPr>
            </a:pPr>
            <a:r>
              <a:t>Day 4-5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3977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"/>
              </a:defRPr>
            </a:pPr>
            <a:r>
              <a:t>Validate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43434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Run compliance check on current schedule.</a:t>
            </a:r>
            <a:br/>
            <a:r>
              <a:t>See violations that exist TODAY. Fix them.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12079"/>
            <a:ext cx="1371600" cy="10058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  <a:latin typeface="Segoe UI"/>
              </a:defRPr>
            </a:pPr>
            <a:r>
              <a:t>Day 6-7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525779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Segoe UI"/>
              </a:defRPr>
            </a:pPr>
            <a:r>
              <a:t>Go 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562355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Segoe UI"/>
              </a:defRPr>
            </a:pPr>
            <a:r>
              <a:t>Enable pre-publish checks. Workers get mobile app.</a:t>
            </a:r>
            <a:br/>
            <a:r>
              <a:t>Otto available for scheduling questions 24/7.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60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923C"/>
                </a:solidFill>
                <a:latin typeface="Segoe UI"/>
              </a:defRPr>
            </a:pPr>
            <a:r>
              <a:t>What we DON'T require: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0350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40"/>
              </a:spcAft>
              <a:defRPr sz="1100" b="0">
                <a:solidFill>
                  <a:srgbClr val="D1D5DB"/>
                </a:solidFill>
                <a:latin typeface="Segoe UI"/>
              </a:defRPr>
            </a:pPr>
            <a:r>
              <a:t>  ✖  No hardware installation</a:t>
            </a:r>
          </a:p>
          <a:p>
            <a:pPr>
              <a:spcAft>
                <a:spcPts val="440"/>
              </a:spcAft>
              <a:defRPr sz="1100" b="0">
                <a:solidFill>
                  <a:srgbClr val="D1D5DB"/>
                </a:solidFill>
                <a:latin typeface="Segoe UI"/>
              </a:defRPr>
            </a:pPr>
            <a:r>
              <a:t>  ✖  No IT project (cloud-based, nothing to install)</a:t>
            </a:r>
          </a:p>
          <a:p>
            <a:pPr>
              <a:spcAft>
                <a:spcPts val="440"/>
              </a:spcAft>
              <a:defRPr sz="1100" b="0">
                <a:solidFill>
                  <a:srgbClr val="D1D5DB"/>
                </a:solidFill>
                <a:latin typeface="Segoe UI"/>
              </a:defRPr>
            </a:pPr>
            <a:r>
              <a:t>  ✖  No replacing your existing systems (we sit on top)</a:t>
            </a:r>
          </a:p>
          <a:p>
            <a:pPr>
              <a:spcAft>
                <a:spcPts val="440"/>
              </a:spcAft>
              <a:defRPr sz="1100" b="0">
                <a:solidFill>
                  <a:srgbClr val="D1D5DB"/>
                </a:solidFill>
                <a:latin typeface="Segoe UI"/>
              </a:defRPr>
            </a:pPr>
            <a:r>
              <a:t>  ✖  No 6-month implementation consultants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See It Live — Right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1D5DB"/>
                </a:solidFill>
                <a:latin typeface="Segoe UI"/>
              </a:defRPr>
            </a:pPr>
            <a:r>
              <a:t>No slides needed. Open your browser: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12801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EA5E9"/>
                </a:solidFill>
                <a:latin typeface="Segoe UI"/>
              </a:defRPr>
            </a:pPr>
            <a:r>
              <a:t>Healthcare App (Full Product)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Segoe UI"/>
              </a:defRPr>
            </a:pPr>
            <a:r>
              <a:t>shiftguard-giznml7xnt59j5aguqjerc.streamlit.app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See ACGME compliance, residency scheduling,</a:t>
            </a:r>
            <a:br/>
            <a:r>
              <a:t>nursing management, Otto AI, bias audit, ROI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10698480" cy="12801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EA5E9"/>
                </a:solidFill>
                <a:latin typeface="Segoe UI"/>
              </a:defRPr>
            </a:pPr>
            <a:r>
              <a:t>Worker Mobile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Segoe UI"/>
              </a:defRPr>
            </a:pPr>
            <a:r>
              <a:t>frontend-lyart-three-52.vercel.app/worker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661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What your nurses/residents see on their phone.</a:t>
            </a:r>
            <a:br/>
            <a:r>
              <a:t>Schedule, requests, balances, notifications.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37760"/>
            <a:ext cx="10698480" cy="12801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EA5E9"/>
                </a:solidFill>
                <a:latin typeface="Segoe UI"/>
              </a:defRPr>
            </a:pPr>
            <a:r>
              <a:t>Free Compliance Calculator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Segoe UI"/>
              </a:defRPr>
            </a:pPr>
            <a:r>
              <a:t>frontend-lyart-three-52.vercel.app/calculator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1206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Segoe UI"/>
              </a:defRPr>
            </a:pPr>
            <a:r>
              <a:t>Enter your state + headcount → instant risk grade.</a:t>
            </a:r>
            <a:br/>
            <a:r>
              <a:t>Share with any colleague (no signup required).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"I'll show you — it takes 60 seconds. Pull up your phone."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72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We're looking for 3 design partners — hospitals that want to:</a:t>
            </a:r>
          </a:p>
          <a:p>
            <a:pPr>
              <a:spcAft>
                <a:spcPts val="672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72"/>
              </a:spcAft>
              <a:defRPr sz="1400" b="0">
                <a:solidFill>
                  <a:srgbClr val="4ADE80"/>
                </a:solidFill>
                <a:latin typeface="Segoe UI"/>
              </a:defRPr>
            </a:pPr>
            <a:r>
              <a:t>  1.  Run ShiftGuard on their actual schedule data (free pilot)</a:t>
            </a:r>
          </a:p>
          <a:p>
            <a:pPr>
              <a:spcAft>
                <a:spcPts val="672"/>
              </a:spcAft>
              <a:defRPr sz="1400" b="0">
                <a:solidFill>
                  <a:srgbClr val="4ADE80"/>
                </a:solidFill>
                <a:latin typeface="Segoe UI"/>
              </a:defRPr>
            </a:pPr>
            <a:r>
              <a:t>  2.  Measure real violation reduction over 90 days</a:t>
            </a:r>
          </a:p>
          <a:p>
            <a:pPr>
              <a:spcAft>
                <a:spcPts val="672"/>
              </a:spcAft>
              <a:defRPr sz="1400" b="0">
                <a:solidFill>
                  <a:srgbClr val="4ADE80"/>
                </a:solidFill>
                <a:latin typeface="Segoe UI"/>
              </a:defRPr>
            </a:pPr>
            <a:r>
              <a:t>  3.  Become a published case study when results are proven</a:t>
            </a:r>
          </a:p>
          <a:p>
            <a:pPr>
              <a:spcAft>
                <a:spcPts val="672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72"/>
              </a:spcAft>
              <a:defRPr sz="1400" b="1">
                <a:solidFill>
                  <a:srgbClr val="0EA5E9"/>
                </a:solidFill>
                <a:latin typeface="Segoe UI"/>
              </a:defRPr>
            </a:pPr>
            <a:r>
              <a:t>What you get as a design partner:</a:t>
            </a:r>
          </a:p>
          <a:p>
            <a:pPr>
              <a:spcAft>
                <a:spcPts val="672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72"/>
              </a:spcAft>
              <a:defRPr sz="1400" b="0">
                <a:solidFill>
                  <a:srgbClr val="D1D5DB"/>
                </a:solidFill>
                <a:latin typeface="Segoe UI"/>
              </a:defRPr>
            </a:pPr>
            <a:r>
              <a:t>  •  Free for 90 days (no commitment until ROI proven)</a:t>
            </a:r>
          </a:p>
          <a:p>
            <a:pPr>
              <a:spcAft>
                <a:spcPts val="672"/>
              </a:spcAft>
              <a:defRPr sz="1400" b="0">
                <a:solidFill>
                  <a:srgbClr val="D1D5DB"/>
                </a:solidFill>
                <a:latin typeface="Segoe UI"/>
              </a:defRPr>
            </a:pPr>
            <a:r>
              <a:t>  •  Direct access to the product team (features built to your needs)</a:t>
            </a:r>
          </a:p>
          <a:p>
            <a:pPr>
              <a:spcAft>
                <a:spcPts val="672"/>
              </a:spcAft>
              <a:defRPr sz="1400" b="0">
                <a:solidFill>
                  <a:srgbClr val="D1D5DB"/>
                </a:solidFill>
                <a:latin typeface="Segoe UI"/>
              </a:defRPr>
            </a:pPr>
            <a:r>
              <a:t>  •  Locked-in pricing (50% off standard rate, forever)</a:t>
            </a:r>
          </a:p>
          <a:p>
            <a:pPr>
              <a:spcAft>
                <a:spcPts val="672"/>
              </a:spcAft>
              <a:defRPr sz="1400" b="0">
                <a:solidFill>
                  <a:srgbClr val="D1D5DB"/>
                </a:solidFill>
                <a:latin typeface="Segoe UI"/>
              </a:defRPr>
            </a:pPr>
            <a:r>
              <a:t>  •  First to get new features (jeopardy AI, demand sensing, etc.)</a:t>
            </a:r>
          </a:p>
          <a:p>
            <a:pPr>
              <a:spcAft>
                <a:spcPts val="672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672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Ideal partner:</a:t>
            </a:r>
          </a:p>
          <a:p>
            <a:pPr>
              <a:spcAft>
                <a:spcPts val="672"/>
              </a:spcAft>
              <a:defRPr sz="1400" b="0">
                <a:solidFill>
                  <a:srgbClr val="D1D5DB"/>
                </a:solidFill>
                <a:latin typeface="Segoe UI"/>
              </a:defRPr>
            </a:pPr>
            <a:r>
              <a:t>  • 100-500 clinical staff (residents + nurses)</a:t>
            </a:r>
          </a:p>
          <a:p>
            <a:pPr>
              <a:spcAft>
                <a:spcPts val="672"/>
              </a:spcAft>
              <a:defRPr sz="1400" b="0">
                <a:solidFill>
                  <a:srgbClr val="D1D5DB"/>
                </a:solidFill>
                <a:latin typeface="Segoe UI"/>
              </a:defRPr>
            </a:pPr>
            <a:r>
              <a:t>  • Residency program (ACGME compliance pain)</a:t>
            </a:r>
          </a:p>
          <a:p>
            <a:pPr>
              <a:spcAft>
                <a:spcPts val="672"/>
              </a:spcAft>
              <a:defRPr sz="1400" b="0">
                <a:solidFill>
                  <a:srgbClr val="D1D5DB"/>
                </a:solidFill>
                <a:latin typeface="Segoe UI"/>
              </a:defRPr>
            </a:pPr>
            <a:r>
              <a:t>  • Currently using UKG, QGenda, Amion, or spreadsheets</a:t>
            </a:r>
          </a:p>
          <a:p>
            <a:pPr>
              <a:spcAft>
                <a:spcPts val="672"/>
              </a:spcAft>
              <a:defRPr sz="1400" b="0">
                <a:solidFill>
                  <a:srgbClr val="D1D5DB"/>
                </a:solidFill>
                <a:latin typeface="Segoe UI"/>
              </a:defRPr>
            </a:pPr>
            <a:r>
              <a:t>  • Willing to share de-identified outcome metrics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94960" y="1097280"/>
            <a:ext cx="1371600" cy="13716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>
                <a:solidFill>
                  <a:srgbClr val="FFFFFF"/>
                </a:solidFill>
                <a:latin typeface="Segoe UI"/>
              </a:defRPr>
            </a:pPr>
            <a:r>
              <a:t>SG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ShiftGuard for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03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20"/>
              </a:spcAft>
              <a:defRPr sz="1700" b="0">
                <a:solidFill>
                  <a:srgbClr val="FFFFFF"/>
                </a:solidFill>
                <a:latin typeface="Segoe UI"/>
              </a:defRPr>
            </a:pPr>
            <a:r>
              <a:t>Your residents shouldn't be working illegal hours.</a:t>
            </a:r>
          </a:p>
          <a:p>
            <a:pPr>
              <a:spcAft>
                <a:spcPts val="1020"/>
              </a:spcAft>
              <a:defRPr sz="1700" b="0">
                <a:solidFill>
                  <a:srgbClr val="FFFFFF"/>
                </a:solidFill>
                <a:latin typeface="Segoe UI"/>
              </a:defRPr>
            </a:pPr>
            <a:r>
              <a:t>Your nurses shouldn't quit over unfair schedules.</a:t>
            </a:r>
          </a:p>
          <a:p>
            <a:pPr>
              <a:spcAft>
                <a:spcPts val="1020"/>
              </a:spcAft>
              <a:defRPr sz="1700" b="0">
                <a:solidFill>
                  <a:srgbClr val="FFFFFF"/>
                </a:solidFill>
                <a:latin typeface="Segoe UI"/>
              </a:defRPr>
            </a:pPr>
            <a:r>
              <a:t>Your program shouldn't be one violation away from probation.</a:t>
            </a:r>
          </a:p>
          <a:p>
            <a:pPr>
              <a:spcAft>
                <a:spcPts val="1020"/>
              </a:spcAft>
              <a:defRPr sz="17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Aft>
                <a:spcPts val="1020"/>
              </a:spcAft>
              <a:defRPr sz="1700" b="1">
                <a:solidFill>
                  <a:srgbClr val="0EA5E9"/>
                </a:solidFill>
                <a:latin typeface="Segoe UI"/>
              </a:defRPr>
            </a:pPr>
            <a:r>
              <a:t>We fix all three. Automatically. Before you publish.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59436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Segoe UI"/>
              </a:defRPr>
            </a:pPr>
            <a:r>
              <a:t>hello@shiftguard.ai  |  Let's schedule a 15-minute walkthrough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