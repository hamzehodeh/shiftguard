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EA5E9"/>
                </a:solidFill>
                <a:latin typeface="Segoe UI"/>
              </a:defRPr>
            </a:pPr>
            <a:r>
              <a:t>ShiftGuard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Service Level Agreement &amp; Support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What happens after you say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Confidential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Service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7472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CA3AF"/>
                </a:solidFill>
                <a:latin typeface="Segoe UI"/>
              </a:defRPr>
            </a:pPr>
            <a:r>
              <a:t>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$15 PEPM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Min headcount: 25+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Uptime SLA: 99.5%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Support: Business hours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Onboarding: Self-serve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Law updates: 7 days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Critical response: 4h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7472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A5E9"/>
                </a:solidFill>
                <a:latin typeface="Segoe UI"/>
              </a:defRPr>
            </a:pPr>
            <a:r>
              <a:t>Professional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$20 PEPM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Min headcount: 50+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Uptime SLA: 99.9%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Support: Extended (7a-9p)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Onboarding: Guided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Law updates: 48 hours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Critical response: 1h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280160"/>
            <a:ext cx="347472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9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$25 PEPM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Min headcount: 200+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Uptime SLA: 99.95%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Support: 24/7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Onboarding: White-glove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Law updates: 24 hours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Critical response: 15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Uptime Guarantee &amp; Service Credits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SLA Credit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99.9% - 99.95%    No credit (Enterprise meets SLA)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99.5% - 99.9%      10% credit</a:t>
            </a:r>
          </a:p>
          <a:p>
            <a:pPr>
              <a:spcAft>
                <a:spcPts val="910"/>
              </a:spcAft>
              <a:defRPr sz="1400" b="0">
                <a:solidFill>
                  <a:srgbClr val="FB923C"/>
                </a:solidFill>
                <a:latin typeface="Segoe UI"/>
              </a:defRPr>
            </a:pPr>
            <a:r>
              <a:t>99.0% - 99.5%      25% credit</a:t>
            </a:r>
          </a:p>
          <a:p>
            <a:pPr>
              <a:spcAft>
                <a:spcPts val="910"/>
              </a:spcAft>
              <a:defRPr sz="1400" b="0">
                <a:solidFill>
                  <a:srgbClr val="F87171"/>
                </a:solidFill>
                <a:latin typeface="Segoe UI"/>
              </a:defRPr>
            </a:pPr>
            <a:r>
              <a:t>95.0% - 99.0%      50% credit</a:t>
            </a:r>
          </a:p>
          <a:p>
            <a:pPr>
              <a:spcAft>
                <a:spcPts val="910"/>
              </a:spcAft>
              <a:defRPr sz="1400" b="0">
                <a:solidFill>
                  <a:srgbClr val="F87171"/>
                </a:solidFill>
                <a:latin typeface="Segoe UI"/>
              </a:defRPr>
            </a:pPr>
            <a:r>
              <a:t>Below 95.0%          100% credit (full month free)</a:t>
            </a:r>
          </a:p>
          <a:p>
            <a:pPr>
              <a:spcAft>
                <a:spcPts val="91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</a:p>
          <a:p>
            <a:pPr>
              <a:spcAft>
                <a:spcPts val="91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Max credit per month: 100% of fee</a:t>
            </a:r>
          </a:p>
          <a:p>
            <a:pPr>
              <a:spcAft>
                <a:spcPts val="91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Applied to following month's invoice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Monitoring &amp;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Public status page: status.shiftguard.ai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Synthetic monitoring every 60 seconds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Incident alerts within 5 minutes of detection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Post-incident reports within 72 hours</a:t>
            </a:r>
          </a:p>
          <a:p>
            <a:pPr>
              <a:spcAft>
                <a:spcPts val="91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</a:p>
          <a:p>
            <a:pPr>
              <a:spcAft>
                <a:spcPts val="910"/>
              </a:spcAft>
              <a:defRPr sz="1400" b="1">
                <a:solidFill>
                  <a:srgbClr val="D1D5DB"/>
                </a:solidFill>
                <a:latin typeface="Segoe UI"/>
              </a:defRPr>
            </a:pPr>
            <a:r>
              <a:t>Scheduled maintenance:</a:t>
            </a:r>
          </a:p>
          <a:p>
            <a:pPr>
              <a:spcAft>
                <a:spcPts val="91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Sundays 2-6 AM ET (72h advance notice)</a:t>
            </a:r>
          </a:p>
          <a:p>
            <a:pPr>
              <a:spcAft>
                <a:spcPts val="91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Max 4 hours/month planned downtime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Support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Response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Critical (P1):   4h / 1h / 15 min</a:t>
            </a:r>
          </a:p>
          <a:p>
            <a:pPr>
              <a:spcAft>
                <a:spcPts val="845"/>
              </a:spcAft>
              <a:defRPr sz="1300" b="0">
                <a:solidFill>
                  <a:srgbClr val="FB923C"/>
                </a:solidFill>
                <a:latin typeface="Segoe UI"/>
              </a:defRPr>
            </a:pPr>
            <a:r>
              <a:t>High (P2):        8h / 4h / 1h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Normal (P3):    2 days / 1 day / 4h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In-app AI (Otto):  All tiers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Email:                    All tiers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Phone:                  Pro + Enterprise</a:t>
            </a:r>
          </a:p>
          <a:p>
            <a:pPr>
              <a:spcAft>
                <a:spcPts val="845"/>
              </a:spcAft>
              <a:defRPr sz="1300" b="0">
                <a:solidFill>
                  <a:srgbClr val="22D3EE"/>
                </a:solidFill>
                <a:latin typeface="Segoe UI"/>
              </a:defRPr>
            </a:pPr>
            <a:r>
              <a:t>Slack Connect:      Enterprise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Severity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P1 Critical: Platform unavailable, incorrect compliance results, data loss, security breach</a:t>
            </a:r>
          </a:p>
          <a:p>
            <a:pPr>
              <a:spcAft>
                <a:spcPts val="845"/>
              </a:spcAft>
              <a:defRPr sz="1300" b="0">
                <a:solidFill>
                  <a:srgbClr val="FB923C"/>
                </a:solidFill>
                <a:latin typeface="Segoe UI"/>
              </a:defRPr>
            </a:pPr>
            <a:r>
              <a:t>P2 High: Major feature degraded, one jurisdiction not processing, &gt;5s response times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P3 Normal: UI bugs, report formatting, minor performance, feature requests</a:t>
            </a:r>
          </a:p>
          <a:p>
            <a:pPr>
              <a:spcAft>
                <a:spcPts val="845"/>
              </a:spcAft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P4 Low: Cosmetic issues, enhancement requests, training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Compliance Rule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When labor laws change, your system updates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1828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Law Update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Enterprise:  24 hours from law change to deployed update</a:t>
            </a:r>
          </a:p>
          <a:p>
            <a:pPr>
              <a:spcAft>
                <a:spcPts val="910"/>
              </a:spcAft>
              <a:defRPr sz="1400" b="0">
                <a:solidFill>
                  <a:srgbClr val="0EA5E9"/>
                </a:solidFill>
                <a:latin typeface="Segoe UI"/>
              </a:defRPr>
            </a:pPr>
            <a:r>
              <a:t>Professional:  48 hours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Starter:  7 calendar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24688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Update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1. Detection — AI scans federal/state registers, DOL bulletins daily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2. Analysis — Compliance team assesses impact &amp; affected jurisdictions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3. Implementation — Rule engine updated, version-controlled, tested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4. Notification — Affected customers notified (email + in-app banner)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5. Audit trail — Previous rule version preserved for legal defense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Security &amp; Data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Hosted on AWS (us-east-1 + us-west-2 DR)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Encryption at rest: AES-256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Encryption in transit: TLS 1.3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Secrets rotated every 90 days</a:t>
            </a:r>
          </a:p>
          <a:p>
            <a:pPr>
              <a:spcAft>
                <a:spcPts val="845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SOC 2 Type II (target Q2 2027)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HIPAA (Healthcare Tier)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BAA available for Enterprise healthcare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PHI isolation: dedicated database schema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Access logging: every read/write audited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Role-based access (minimum necessary)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Annual third-party security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Data Ownership &amp; Portability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You own 100% of your data — always exportable (CSV, JSON, API)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On termination: 30-day retrieval window, then permanent deletion + certificate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No cross-customer data training without explicit written consent</a:t>
            </a:r>
          </a:p>
          <a:p>
            <a:pPr>
              <a:spcAft>
                <a:spcPts val="845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Breach notification: within 1 hour of confirmed incident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Onboarding — Time to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A3AF"/>
                </a:solidFill>
                <a:latin typeface="Segoe UI"/>
              </a:defRPr>
            </a:pPr>
            <a:r>
              <a:t>Starter: Same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1. Sign up, select state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2. Upload schedule (CSV/Excel)</a:t>
            </a:r>
          </a:p>
          <a:p>
            <a:pPr>
              <a:spcAft>
                <a:spcPts val="845"/>
              </a:spcAft>
              <a:defRPr sz="1300" b="0">
                <a:solidFill>
                  <a:srgbClr val="4ADE80"/>
                </a:solidFill>
                <a:latin typeface="Segoe UI"/>
              </a:defRPr>
            </a:pPr>
            <a:r>
              <a:t>3. First report in &lt; 60 seconds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4. In-app walkthrough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5. Otto AI for config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Professional: 1-2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1. Kickoff call (30 min)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2. Config session (60 min)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3. Go-live week: daily check-ins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4. 30-day health check call</a:t>
            </a:r>
          </a:p>
          <a:p>
            <a:pPr>
              <a:spcAft>
                <a:spcPts val="845"/>
              </a:spcAft>
              <a:defRPr sz="1300" b="0">
                <a:solidFill>
                  <a:srgbClr val="6B7280"/>
                </a:solidFill>
                <a:latin typeface="Segoe UI"/>
              </a:defRPr>
            </a:pPr>
          </a:p>
          <a:p>
            <a:pPr>
              <a:spcAft>
                <a:spcPts val="845"/>
              </a:spcAft>
              <a:defRPr sz="1300" b="1">
                <a:solidFill>
                  <a:srgbClr val="4ADE80"/>
                </a:solidFill>
                <a:latin typeface="Segoe UI"/>
              </a:defRPr>
            </a:pPr>
            <a:r>
              <a:t>First value: Day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Enterprise: 4-6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1. Discovery (1 week)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2. Configuration (1-2 weeks)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3. Parallel run (2 weeks)</a:t>
            </a:r>
          </a:p>
          <a:p>
            <a:pPr>
              <a:spcAft>
                <a:spcPts val="845"/>
              </a:spcAft>
              <a:defRPr sz="1300" b="0">
                <a:solidFill>
                  <a:srgbClr val="4ADE80"/>
                </a:solidFill>
                <a:latin typeface="Segoe UI"/>
              </a:defRPr>
            </a:pPr>
            <a:r>
              <a:t>4. Go-live (1 day)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5. Stabilization (4 weeks)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6. Quarterly business reviews</a:t>
            </a:r>
          </a:p>
          <a:p>
            <a:pPr>
              <a:spcAft>
                <a:spcPts val="845"/>
              </a:spcAft>
              <a:defRPr sz="1300" b="0">
                <a:solidFill>
                  <a:srgbClr val="6B7280"/>
                </a:solidFill>
                <a:latin typeface="Segoe UI"/>
              </a:defRPr>
            </a:pPr>
          </a:p>
          <a:p>
            <a:pPr>
              <a:spcAft>
                <a:spcPts val="845"/>
              </a:spcAft>
              <a:defRPr sz="1300" b="1">
                <a:solidFill>
                  <a:srgbClr val="22D3EE"/>
                </a:solidFill>
                <a:latin typeface="Segoe UI"/>
              </a:defRPr>
            </a:pPr>
            <a:r>
              <a:t>Includes CBA digitization</a:t>
            </a:r>
          </a:p>
          <a:p>
            <a:pPr>
              <a:spcAft>
                <a:spcPts val="845"/>
              </a:spcAft>
              <a:defRPr sz="1300" b="1">
                <a:solidFill>
                  <a:srgbClr val="22D3EE"/>
                </a:solidFill>
                <a:latin typeface="Segoe UI"/>
              </a:defRPr>
            </a:pPr>
            <a:r>
              <a:t>UKG/Kronos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Disaster Recovery &amp; Business Continuity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EA5E9"/>
                </a:solidFill>
                <a:latin typeface="Segoe UI"/>
              </a:defRPr>
            </a:pPr>
            <a:r>
              <a:t>1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Maximum data loss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80160"/>
            <a:ext cx="265176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EA5E9"/>
                </a:solidFill>
                <a:latin typeface="Segoe UI"/>
              </a:defRPr>
            </a:pPr>
            <a:r>
              <a:t>4h / 1h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Starter-Pro /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265176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Backups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EA5E9"/>
                </a:solidFill>
                <a:latin typeface="Segoe UI"/>
              </a:defRPr>
            </a:pPr>
            <a:r>
              <a:t>Hourly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Incremental + daily full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280160"/>
            <a:ext cx="265176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DR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EA5E9"/>
                </a:solidFill>
                <a:latin typeface="Segoe UI"/>
              </a:defRPr>
            </a:pPr>
            <a:r>
              <a:t>us-west-2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Automatic failover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24688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Release &amp; Maintenance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Bug fixes:  Deployed as needed (zero-downtime rolling deploys)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Features:  Bi-weekly (every other Tuesday)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Major versions:  Quarterly (90-day migration window for breaking changes)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API versioning:  Previous version supported 12 months after successor launches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Contract Terms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Billing &amp;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Monthly or Annual (10% discount)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NET 30 payment terms</a:t>
            </a:r>
          </a:p>
          <a:p>
            <a:pPr>
              <a:spcAft>
                <a:spcPts val="845"/>
              </a:spcAft>
              <a:defRPr sz="1300" b="0">
                <a:solidFill>
                  <a:srgbClr val="4ADE80"/>
                </a:solidFill>
                <a:latin typeface="Segoe UI"/>
              </a:defRPr>
            </a:pPr>
            <a:r>
              <a:t>No setup fees (Starter/Professional)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Monthly: 30-day written notice to cancel</a:t>
            </a:r>
          </a:p>
          <a:p>
            <a:pPr>
              <a:spcAft>
                <a:spcPts val="845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Annual: auto-renews unless 60-day notice</a:t>
            </a:r>
          </a:p>
          <a:p>
            <a:pPr>
              <a:spcAft>
                <a:spcPts val="845"/>
              </a:spcAft>
              <a:defRPr sz="1300" b="0">
                <a:solidFill>
                  <a:srgbClr val="6B7280"/>
                </a:solidFill>
                <a:latin typeface="Segoe UI"/>
              </a:defRPr>
            </a:pPr>
          </a:p>
          <a:p>
            <a:pPr>
              <a:spcAft>
                <a:spcPts val="845"/>
              </a:spcAft>
              <a:defRPr sz="1300" b="1">
                <a:solidFill>
                  <a:srgbClr val="D1D5DB"/>
                </a:solidFill>
                <a:latin typeface="Segoe UI"/>
              </a:defRPr>
            </a:pPr>
            <a:r>
              <a:t>For-cause termination:</a:t>
            </a:r>
          </a:p>
          <a:p>
            <a:pPr>
              <a:spcAft>
                <a:spcPts val="845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Immediate if breach uncured after 30 days</a:t>
            </a:r>
          </a:p>
          <a:p>
            <a:pPr>
              <a:spcAft>
                <a:spcPts val="845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3 consecutive months SLA cap exceeded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Data on Termination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30-day data retrieval window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Export: CSV, JSON, PDF, or via API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Permanent deletion after 30 days</a:t>
            </a:r>
          </a:p>
          <a:p>
            <a:pPr>
              <a:spcAft>
                <a:spcPts val="910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Certificate of destruction provided</a:t>
            </a:r>
          </a:p>
          <a:p>
            <a:pPr>
              <a:spcAft>
                <a:spcPts val="91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</a:p>
          <a:p>
            <a:pPr>
              <a:spcAft>
                <a:spcPts val="910"/>
              </a:spcAft>
              <a:defRPr sz="1400" b="1">
                <a:solidFill>
                  <a:srgbClr val="4ADE80"/>
                </a:solidFill>
                <a:latin typeface="Segoe UI"/>
              </a:defRPr>
            </a:pPr>
            <a:r>
              <a:t>No lock-in. Your data is yours.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Ready to Get Started?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  <a:defRPr sz="1600" b="0">
                <a:solidFill>
                  <a:srgbClr val="D1D5DB"/>
                </a:solidFill>
                <a:latin typeface="Segoe UI"/>
              </a:defRPr>
            </a:pPr>
            <a:r>
              <a:t>1.  Pick your tier (Starter / Professional / Enterprise)</a:t>
            </a:r>
          </a:p>
          <a:p>
            <a:pPr>
              <a:spcAft>
                <a:spcPts val="1040"/>
              </a:spcAft>
              <a:defRPr sz="1600" b="0">
                <a:solidFill>
                  <a:srgbClr val="D1D5DB"/>
                </a:solidFill>
                <a:latin typeface="Segoe UI"/>
              </a:defRPr>
            </a:pPr>
            <a:r>
              <a:t>2.  We'll send the agreement for review</a:t>
            </a:r>
          </a:p>
          <a:p>
            <a:pPr>
              <a:spcAft>
                <a:spcPts val="1040"/>
              </a:spcAft>
              <a:defRPr sz="1600" b="0">
                <a:solidFill>
                  <a:srgbClr val="D1D5DB"/>
                </a:solidFill>
                <a:latin typeface="Segoe UI"/>
              </a:defRPr>
            </a:pPr>
            <a:r>
              <a:t>3.  Sign + onboard (same day for Starter)</a:t>
            </a:r>
          </a:p>
          <a:p>
            <a:pPr>
              <a:spcAft>
                <a:spcPts val="1040"/>
              </a:spcAft>
              <a:defRPr sz="1600" b="0">
                <a:solidFill>
                  <a:srgbClr val="4ADE80"/>
                </a:solidFill>
                <a:latin typeface="Segoe UI"/>
              </a:defRPr>
            </a:pPr>
            <a:r>
              <a:t>4.  First compliance report in under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EA5E9"/>
                </a:solidFill>
                <a:latin typeface="Segoe UI"/>
              </a:defRPr>
            </a:pPr>
            <a:r>
              <a:t>sales@shiftguard.ai  |  shiftguard.ai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Schedule with confidence. Never pay another compliance fine.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